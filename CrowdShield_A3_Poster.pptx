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691813" cy="1511935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76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958" y="1960"/>
      </p:cViewPr>
      <p:guideLst>
        <p:guide orient="horz" pos="4762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2" name="Google Shape;1042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59589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2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2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2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"/>
          <p:cNvSpPr txBox="1">
            <a:spLocks noGrp="1"/>
          </p:cNvSpPr>
          <p:nvPr>
            <p:ph type="ctrTitle"/>
          </p:nvPr>
        </p:nvSpPr>
        <p:spPr>
          <a:xfrm>
            <a:off x="801886" y="2474395"/>
            <a:ext cx="9087900" cy="52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45"/>
              <a:buFont typeface="Calibri"/>
              <a:buNone/>
              <a:defRPr sz="694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6" name="Google Shape;1056;p3"/>
          <p:cNvSpPr txBox="1">
            <a:spLocks noGrp="1"/>
          </p:cNvSpPr>
          <p:nvPr>
            <p:ph type="subTitle" idx="1"/>
          </p:nvPr>
        </p:nvSpPr>
        <p:spPr>
          <a:xfrm>
            <a:off x="1336477" y="7941160"/>
            <a:ext cx="8019000" cy="3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/>
            </a:lvl1pPr>
            <a:lvl2pPr lvl="1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lvl="2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None/>
              <a:defRPr sz="2083"/>
            </a:lvl3pPr>
            <a:lvl4pPr lvl="3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4pPr>
            <a:lvl5pPr lvl="4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5pPr>
            <a:lvl6pPr lvl="5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6pPr>
            <a:lvl7pPr lvl="6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7pPr>
            <a:lvl8pPr lvl="7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8pPr>
            <a:lvl9pPr lvl="8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9pPr>
          </a:lstStyle>
          <a:p>
            <a:endParaRPr/>
          </a:p>
        </p:txBody>
      </p:sp>
      <p:sp>
        <p:nvSpPr>
          <p:cNvPr id="1057" name="Google Shape;1057;p3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8" name="Google Shape;1058;p3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3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4"/>
          <p:cNvSpPr txBox="1">
            <a:spLocks noGrp="1"/>
          </p:cNvSpPr>
          <p:nvPr>
            <p:ph type="body" idx="1"/>
          </p:nvPr>
        </p:nvSpPr>
        <p:spPr>
          <a:xfrm>
            <a:off x="735062" y="4024827"/>
            <a:ext cx="92217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3" name="Google Shape;1063;p4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4" name="Google Shape;1064;p4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5" name="Google Shape;1065;p4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"/>
          <p:cNvSpPr txBox="1">
            <a:spLocks noGrp="1"/>
          </p:cNvSpPr>
          <p:nvPr>
            <p:ph type="title"/>
          </p:nvPr>
        </p:nvSpPr>
        <p:spPr>
          <a:xfrm>
            <a:off x="729494" y="3769342"/>
            <a:ext cx="9221700" cy="6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45"/>
              <a:buFont typeface="Calibri"/>
              <a:buNone/>
              <a:defRPr sz="694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5"/>
          <p:cNvSpPr txBox="1">
            <a:spLocks noGrp="1"/>
          </p:cNvSpPr>
          <p:nvPr>
            <p:ph type="body" idx="1"/>
          </p:nvPr>
        </p:nvSpPr>
        <p:spPr>
          <a:xfrm>
            <a:off x="729494" y="10118069"/>
            <a:ext cx="9221700" cy="3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2315"/>
              <a:buNone/>
              <a:defRPr sz="2315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2083"/>
              <a:buNone/>
              <a:defRPr sz="2083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p5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5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1" name="Google Shape;1071;p5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6"/>
          <p:cNvSpPr txBox="1">
            <a:spLocks noGrp="1"/>
          </p:cNvSpPr>
          <p:nvPr>
            <p:ph type="body" idx="1"/>
          </p:nvPr>
        </p:nvSpPr>
        <p:spPr>
          <a:xfrm>
            <a:off x="735062" y="4024827"/>
            <a:ext cx="45441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5" name="Google Shape;1075;p6"/>
          <p:cNvSpPr txBox="1">
            <a:spLocks noGrp="1"/>
          </p:cNvSpPr>
          <p:nvPr>
            <p:ph type="body" idx="2"/>
          </p:nvPr>
        </p:nvSpPr>
        <p:spPr>
          <a:xfrm>
            <a:off x="5412730" y="4024827"/>
            <a:ext cx="45441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6" name="Google Shape;1076;p6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6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6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"/>
          <p:cNvSpPr txBox="1">
            <a:spLocks noGrp="1"/>
          </p:cNvSpPr>
          <p:nvPr>
            <p:ph type="title"/>
          </p:nvPr>
        </p:nvSpPr>
        <p:spPr>
          <a:xfrm>
            <a:off x="736455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7"/>
          <p:cNvSpPr txBox="1">
            <a:spLocks noGrp="1"/>
          </p:cNvSpPr>
          <p:nvPr>
            <p:ph type="body" idx="1"/>
          </p:nvPr>
        </p:nvSpPr>
        <p:spPr>
          <a:xfrm>
            <a:off x="736456" y="3706342"/>
            <a:ext cx="4523100" cy="18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 b="1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 b="1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None/>
              <a:defRPr sz="2083" b="1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9pPr>
          </a:lstStyle>
          <a:p>
            <a:endParaRPr/>
          </a:p>
        </p:txBody>
      </p:sp>
      <p:sp>
        <p:nvSpPr>
          <p:cNvPr id="1082" name="Google Shape;1082;p7"/>
          <p:cNvSpPr txBox="1">
            <a:spLocks noGrp="1"/>
          </p:cNvSpPr>
          <p:nvPr>
            <p:ph type="body" idx="2"/>
          </p:nvPr>
        </p:nvSpPr>
        <p:spPr>
          <a:xfrm>
            <a:off x="736456" y="5522762"/>
            <a:ext cx="4523100" cy="81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3" name="Google Shape;1083;p7"/>
          <p:cNvSpPr txBox="1">
            <a:spLocks noGrp="1"/>
          </p:cNvSpPr>
          <p:nvPr>
            <p:ph type="body" idx="3"/>
          </p:nvPr>
        </p:nvSpPr>
        <p:spPr>
          <a:xfrm>
            <a:off x="5412731" y="3706342"/>
            <a:ext cx="4545300" cy="18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 b="1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 b="1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None/>
              <a:defRPr sz="2083" b="1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9pPr>
          </a:lstStyle>
          <a:p>
            <a:endParaRPr/>
          </a:p>
        </p:txBody>
      </p:sp>
      <p:sp>
        <p:nvSpPr>
          <p:cNvPr id="1084" name="Google Shape;1084;p7"/>
          <p:cNvSpPr txBox="1">
            <a:spLocks noGrp="1"/>
          </p:cNvSpPr>
          <p:nvPr>
            <p:ph type="body" idx="4"/>
          </p:nvPr>
        </p:nvSpPr>
        <p:spPr>
          <a:xfrm>
            <a:off x="5412731" y="5522762"/>
            <a:ext cx="4545300" cy="81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5" name="Google Shape;1085;p7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6" name="Google Shape;1086;p7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7" name="Google Shape;1087;p7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0" name="Google Shape;1090;p8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1" name="Google Shape;1091;p8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"/>
          <p:cNvSpPr txBox="1">
            <a:spLocks noGrp="1"/>
          </p:cNvSpPr>
          <p:nvPr>
            <p:ph type="title"/>
          </p:nvPr>
        </p:nvSpPr>
        <p:spPr>
          <a:xfrm>
            <a:off x="736455" y="1007957"/>
            <a:ext cx="3448500" cy="3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4"/>
              <a:buFont typeface="Calibri"/>
              <a:buNone/>
              <a:defRPr sz="370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4" name="Google Shape;1094;p9"/>
          <p:cNvSpPr txBox="1">
            <a:spLocks noGrp="1"/>
          </p:cNvSpPr>
          <p:nvPr>
            <p:ph type="body" idx="1"/>
          </p:nvPr>
        </p:nvSpPr>
        <p:spPr>
          <a:xfrm>
            <a:off x="4545413" y="2176910"/>
            <a:ext cx="5412600" cy="107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63804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3704"/>
              <a:buChar char="•"/>
              <a:defRPr sz="3704"/>
            </a:lvl1pPr>
            <a:lvl2pPr marL="914400" lvl="1" indent="-434403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3241"/>
              <a:buChar char="•"/>
              <a:defRPr sz="3241"/>
            </a:lvl2pPr>
            <a:lvl3pPr marL="1371600" lvl="2" indent="-405003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778"/>
              <a:buChar char="•"/>
              <a:defRPr sz="2778"/>
            </a:lvl3pPr>
            <a:lvl4pPr marL="1828800" lvl="3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4pPr>
            <a:lvl5pPr marL="2286000" lvl="4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5pPr>
            <a:lvl6pPr marL="2743200" lvl="5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6pPr>
            <a:lvl7pPr marL="3200400" lvl="6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7pPr>
            <a:lvl8pPr marL="3657600" lvl="7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8pPr>
            <a:lvl9pPr marL="4114800" lvl="8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9pPr>
          </a:lstStyle>
          <a:p>
            <a:endParaRPr/>
          </a:p>
        </p:txBody>
      </p:sp>
      <p:sp>
        <p:nvSpPr>
          <p:cNvPr id="1095" name="Google Shape;1095;p9"/>
          <p:cNvSpPr txBox="1">
            <a:spLocks noGrp="1"/>
          </p:cNvSpPr>
          <p:nvPr>
            <p:ph type="body" idx="2"/>
          </p:nvPr>
        </p:nvSpPr>
        <p:spPr>
          <a:xfrm>
            <a:off x="736455" y="4535805"/>
            <a:ext cx="3448500" cy="8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621"/>
              <a:buNone/>
              <a:defRPr sz="1620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389"/>
              <a:buNone/>
              <a:defRPr sz="1389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9pPr>
          </a:lstStyle>
          <a:p>
            <a:endParaRPr/>
          </a:p>
        </p:txBody>
      </p:sp>
      <p:sp>
        <p:nvSpPr>
          <p:cNvPr id="1096" name="Google Shape;1096;p9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7" name="Google Shape;1097;p9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8" name="Google Shape;1098;p9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"/>
          <p:cNvSpPr txBox="1">
            <a:spLocks noGrp="1"/>
          </p:cNvSpPr>
          <p:nvPr>
            <p:ph type="title"/>
          </p:nvPr>
        </p:nvSpPr>
        <p:spPr>
          <a:xfrm>
            <a:off x="736455" y="1007957"/>
            <a:ext cx="3448500" cy="3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4"/>
              <a:buFont typeface="Calibri"/>
              <a:buNone/>
              <a:defRPr sz="370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10"/>
          <p:cNvSpPr>
            <a:spLocks noGrp="1"/>
          </p:cNvSpPr>
          <p:nvPr>
            <p:ph type="pic" idx="2"/>
          </p:nvPr>
        </p:nvSpPr>
        <p:spPr>
          <a:xfrm>
            <a:off x="4545413" y="2176910"/>
            <a:ext cx="5412600" cy="10744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2" name="Google Shape;1102;p10"/>
          <p:cNvSpPr txBox="1">
            <a:spLocks noGrp="1"/>
          </p:cNvSpPr>
          <p:nvPr>
            <p:ph type="body" idx="1"/>
          </p:nvPr>
        </p:nvSpPr>
        <p:spPr>
          <a:xfrm>
            <a:off x="736455" y="4535805"/>
            <a:ext cx="3448500" cy="8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621"/>
              <a:buNone/>
              <a:defRPr sz="1620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389"/>
              <a:buNone/>
              <a:defRPr sz="1389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9pPr>
          </a:lstStyle>
          <a:p>
            <a:endParaRPr/>
          </a:p>
        </p:txBody>
      </p:sp>
      <p:sp>
        <p:nvSpPr>
          <p:cNvPr id="1103" name="Google Shape;1103;p10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4" name="Google Shape;1104;p10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10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1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8" name="Google Shape;1108;p11"/>
          <p:cNvSpPr txBox="1">
            <a:spLocks noGrp="1"/>
          </p:cNvSpPr>
          <p:nvPr>
            <p:ph type="body" idx="1"/>
          </p:nvPr>
        </p:nvSpPr>
        <p:spPr>
          <a:xfrm rot="5400000">
            <a:off x="549351" y="4210527"/>
            <a:ext cx="9593100" cy="9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9" name="Google Shape;1109;p11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11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11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2"/>
          <p:cNvSpPr txBox="1">
            <a:spLocks noGrp="1"/>
          </p:cNvSpPr>
          <p:nvPr>
            <p:ph type="title"/>
          </p:nvPr>
        </p:nvSpPr>
        <p:spPr>
          <a:xfrm rot="5400000">
            <a:off x="2397501" y="6058715"/>
            <a:ext cx="12813000" cy="23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12"/>
          <p:cNvSpPr txBox="1">
            <a:spLocks noGrp="1"/>
          </p:cNvSpPr>
          <p:nvPr>
            <p:ph type="body" idx="1"/>
          </p:nvPr>
        </p:nvSpPr>
        <p:spPr>
          <a:xfrm rot="5400000">
            <a:off x="-2280168" y="3820115"/>
            <a:ext cx="12813000" cy="6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5" name="Google Shape;1115;p12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12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7" name="Google Shape;1117;p12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93"/>
              <a:buFont typeface="Calibri"/>
              <a:buNone/>
              <a:defRPr sz="50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5" name="Google Shape;1045;p1"/>
          <p:cNvSpPr txBox="1">
            <a:spLocks noGrp="1"/>
          </p:cNvSpPr>
          <p:nvPr>
            <p:ph type="body" idx="1"/>
          </p:nvPr>
        </p:nvSpPr>
        <p:spPr>
          <a:xfrm>
            <a:off x="735062" y="4024827"/>
            <a:ext cx="92217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4403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5003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778"/>
              <a:buFont typeface="Arial"/>
              <a:buChar char="•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6" name="Google Shape;1046;p1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7" name="Google Shape;1047;p1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" name="Google Shape;1048;p1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"/>
          <p:cNvSpPr/>
          <p:nvPr/>
        </p:nvSpPr>
        <p:spPr>
          <a:xfrm>
            <a:off x="231725" y="181045"/>
            <a:ext cx="10228500" cy="14629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26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7" name="Google Shape;11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00" y="324000"/>
            <a:ext cx="2160000" cy="736941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TextBox 1137"/>
          <p:cNvSpPr txBox="1"/>
          <p:nvPr/>
        </p:nvSpPr>
        <p:spPr>
          <a:xfrm>
            <a:off x="2592000" y="251999"/>
            <a:ext cx="7776000" cy="684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pPr algn="ctr"/>
            <a:r>
              <a:rPr sz="2400" b="1" i="0">
                <a:solidFill>
                  <a:srgbClr val="1F3864"/>
                </a:solidFill>
                <a:latin typeface="Calibri"/>
              </a:rPr>
              <a:t>CROWDSHIELD: EDGE-AI DENSE CROWD SENTINEL &amp; AUTONOMOUS EGRESS ROUTING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2592000" y="917999"/>
            <a:ext cx="7776000" cy="251999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pPr algn="ctr"/>
            <a:r>
              <a:rPr sz="1400" b="1" i="1">
                <a:solidFill>
                  <a:srgbClr val="42719B"/>
                </a:solidFill>
                <a:latin typeface="Calibri"/>
              </a:rPr>
              <a:t>Dual-Radio Hardware Mesh Spine for Mass Pilgrimages &amp; Extreme Gathering Safety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2592000" y="1134000"/>
            <a:ext cx="7776000" cy="396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ctr"/>
            <a:r>
              <a:rPr sz="1600" b="1" i="0">
                <a:latin typeface="Calibri"/>
              </a:rPr>
              <a:t>Raghunandhan P. [Reg: 21BCEXXXX]  |  Student 2  |  Student 3</a:t>
            </a:r>
          </a:p>
          <a:p>
            <a:pPr algn="ctr"/>
            <a:r>
              <a:rPr sz="1300" b="0" i="0">
                <a:latin typeface="Calibri"/>
              </a:rPr>
              <a:t>Project Mentor: Prof. X. Xxxxxxxxxxxx  |  School of Computer Science and Engineering (SCOPE)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324000" y="1565999"/>
            <a:ext cx="1655999" cy="288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400" b="1" i="0">
                <a:solidFill>
                  <a:srgbClr val="1F3864"/>
                </a:solidFill>
                <a:latin typeface="Calibri"/>
              </a:rPr>
              <a:t>SDGs Addressed:</a:t>
            </a:r>
          </a:p>
        </p:txBody>
      </p:sp>
      <p:sp>
        <p:nvSpPr>
          <p:cNvPr id="1142" name="Rounded Rectangle 1141"/>
          <p:cNvSpPr/>
          <p:nvPr/>
        </p:nvSpPr>
        <p:spPr>
          <a:xfrm>
            <a:off x="2015999" y="1583999"/>
            <a:ext cx="2700000" cy="27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SDG 3: Good Health &amp; Safety</a:t>
            </a:r>
          </a:p>
        </p:txBody>
      </p:sp>
      <p:sp>
        <p:nvSpPr>
          <p:cNvPr id="1143" name="Rounded Rectangle 1142"/>
          <p:cNvSpPr/>
          <p:nvPr/>
        </p:nvSpPr>
        <p:spPr>
          <a:xfrm>
            <a:off x="4823999" y="1583999"/>
            <a:ext cx="2700000" cy="270000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SDG 9: Resilient Infrastructure</a:t>
            </a:r>
          </a:p>
        </p:txBody>
      </p:sp>
      <p:sp>
        <p:nvSpPr>
          <p:cNvPr id="1144" name="Rounded Rectangle 1143"/>
          <p:cNvSpPr/>
          <p:nvPr/>
        </p:nvSpPr>
        <p:spPr>
          <a:xfrm>
            <a:off x="7632000" y="1583999"/>
            <a:ext cx="2700000" cy="270000"/>
          </a:xfrm>
          <a:prstGeom prst="roundRect">
            <a:avLst/>
          </a:prstGeom>
          <a:solidFill>
            <a:srgbClr val="C9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SDG 11: Sustainable Cities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324000" y="1944000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Motivation / Introduction</a:t>
            </a:r>
          </a:p>
        </p:txBody>
      </p:sp>
      <p:cxnSp>
        <p:nvCxnSpPr>
          <p:cNvPr id="1146" name="Connector 1145"/>
          <p:cNvCxnSpPr/>
          <p:nvPr/>
        </p:nvCxnSpPr>
        <p:spPr>
          <a:xfrm>
            <a:off x="324000" y="2286000"/>
            <a:ext cx="4896000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ounded Rectangle 1146"/>
          <p:cNvSpPr/>
          <p:nvPr/>
        </p:nvSpPr>
        <p:spPr>
          <a:xfrm>
            <a:off x="3708000" y="2016000"/>
            <a:ext cx="1475999" cy="216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427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Problem Statement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324000" y="2322000"/>
            <a:ext cx="4896000" cy="2520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00000"/>
                </a:solidFill>
                <a:latin typeface="Calibri"/>
              </a:rPr>
              <a:t>At massive indoor gatherings like the </a:t>
            </a:r>
            <a:r>
              <a:rPr sz="1150" b="1" i="0">
                <a:solidFill>
                  <a:srgbClr val="000000"/>
                </a:solidFill>
                <a:latin typeface="Calibri"/>
              </a:rPr>
              <a:t>Maha Kumbh Mela, Puri Rath Yatra,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or temple festivals, crowd density regularly exceeds </a:t>
            </a:r>
            <a:r>
              <a:rPr sz="1150" b="1" i="0">
                <a:solidFill>
                  <a:srgbClr val="000000"/>
                </a:solidFill>
                <a:latin typeface="Calibri"/>
              </a:rPr>
              <a:t>5 to 8+ persons per square meter (p/m²)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. At this extreme scale, two catastrophic failure modes occur simultaneously.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01E1E"/>
                </a:solidFill>
                <a:latin typeface="Calibri"/>
              </a:rPr>
              <a:t>▪  Bounding-Box Vision Breakdown:</a:t>
            </a:r>
            <a:r>
              <a:rPr sz="1150" b="0" i="0">
                <a:solidFill>
                  <a:srgbClr val="B01E1E"/>
                </a:solidFill>
                <a:latin typeface="Calibri"/>
              </a:rPr>
              <a:t> Standard object detection (regular YOLO) fails completely because individual human bodies occlude into an unbroken ocean of millions of overlapping heads.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01E1E"/>
                </a:solidFill>
                <a:latin typeface="Calibri"/>
              </a:rPr>
              <a:t>▪  Cellular Blackout:</a:t>
            </a:r>
            <a:r>
              <a:rPr sz="1150" b="0" i="0">
                <a:solidFill>
                  <a:srgbClr val="B01E1E"/>
                </a:solidFill>
                <a:latin typeface="Calibri"/>
              </a:rPr>
              <a:t> When 50+ lakh devotees congregate, mobile towers and internet backhauls fail, rendering all cloud-dependent computer vision APIs unreachable.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CrowdShield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addresses this life-critical gap through a </a:t>
            </a:r>
            <a:r>
              <a:rPr sz="1150" b="1" i="0">
                <a:solidFill>
                  <a:srgbClr val="000000"/>
                </a:solidFill>
                <a:latin typeface="Calibri"/>
              </a:rPr>
              <a:t>100% offline edge-computing command spine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that couples density-map regression vision with a localized dual-radio mesh that functions autonomously without Internet connectivity.</a:t>
            </a:r>
          </a:p>
        </p:txBody>
      </p:sp>
      <p:sp>
        <p:nvSpPr>
          <p:cNvPr id="1149" name="TextBox 1148"/>
          <p:cNvSpPr txBox="1"/>
          <p:nvPr/>
        </p:nvSpPr>
        <p:spPr>
          <a:xfrm>
            <a:off x="324000" y="5040000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Scope of the Project</a:t>
            </a:r>
          </a:p>
        </p:txBody>
      </p:sp>
      <p:cxnSp>
        <p:nvCxnSpPr>
          <p:cNvPr id="1150" name="Connector 1149"/>
          <p:cNvCxnSpPr/>
          <p:nvPr/>
        </p:nvCxnSpPr>
        <p:spPr>
          <a:xfrm>
            <a:off x="324000" y="5382000"/>
            <a:ext cx="4896000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Rounded Rectangle 1150"/>
          <p:cNvSpPr/>
          <p:nvPr/>
        </p:nvSpPr>
        <p:spPr>
          <a:xfrm>
            <a:off x="3708000" y="5112000"/>
            <a:ext cx="1475999" cy="216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427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Objectives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324000" y="5418000"/>
            <a:ext cx="4896000" cy="2880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01E1E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Adaptive 4-Tier Vision Orchestrator: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Dynamically switches inference between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YOLOv8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(sparse flow),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P2PNet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(head-dot click analysis),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CSRNet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(dilated density regression &gt;5 p/m²), and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DM-Count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(haze/dust scenes).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01E1E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Dynamic Topological Egress Optimization: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Integrates a hazard-aware network GIS graph that automatically severs blocked corridors (like a stampede) and computes the safest path using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Dijkstra's algorithm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01E1E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Zero-Cloud Hardware Spine: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Deploys field nodes powered by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ESP32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microcontrollers, 1602 LCDs,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DFPlayer Mini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voice annunciators, and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433 MHz LoRa / 2.4 GHz ESP-NOW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dual radios.</a:t>
            </a:r>
          </a:p>
        </p:txBody>
      </p:sp>
      <p:sp>
        <p:nvSpPr>
          <p:cNvPr id="1153" name="Rectangle 1152"/>
          <p:cNvSpPr/>
          <p:nvPr/>
        </p:nvSpPr>
        <p:spPr>
          <a:xfrm>
            <a:off x="324000" y="7380000"/>
            <a:ext cx="4896000" cy="503999"/>
          </a:xfrm>
          <a:prstGeom prst="rect">
            <a:avLst/>
          </a:prstGeom>
          <a:solidFill>
            <a:srgbClr val="FFF8E1"/>
          </a:solidFill>
          <a:ln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/>
          <a:lstStyle/>
          <a:p>
            <a:pPr algn="l"/>
            <a:r>
              <a:rPr sz="1200" b="1" i="0">
                <a:solidFill>
                  <a:srgbClr val="4A3000"/>
                </a:solidFill>
                <a:latin typeface="Calibri"/>
              </a:rPr>
              <a:t>Key Achievement:</a:t>
            </a:r>
            <a:r>
              <a:rPr sz="1200" b="0" i="0">
                <a:solidFill>
                  <a:srgbClr val="4A3000"/>
                </a:solidFill>
                <a:latin typeface="Calibri"/>
              </a:rPr>
              <a:t> 100% Offline Real-Time Execution at 18–28 FPS with sub-second localized hardware actuation latency across field nodes.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324000" y="8100000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Mathematical Modeling</a:t>
            </a:r>
          </a:p>
        </p:txBody>
      </p:sp>
      <p:cxnSp>
        <p:nvCxnSpPr>
          <p:cNvPr id="1155" name="Connector 1154"/>
          <p:cNvCxnSpPr/>
          <p:nvPr/>
        </p:nvCxnSpPr>
        <p:spPr>
          <a:xfrm>
            <a:off x="324000" y="8442000"/>
            <a:ext cx="4896000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Rounded Rectangle 1155"/>
          <p:cNvSpPr/>
          <p:nvPr/>
        </p:nvSpPr>
        <p:spPr>
          <a:xfrm>
            <a:off x="3708000" y="8172000"/>
            <a:ext cx="1475999" cy="216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427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Homography &amp; Graphs</a:t>
            </a:r>
          </a:p>
        </p:txBody>
      </p:sp>
      <p:sp>
        <p:nvSpPr>
          <p:cNvPr id="1157" name="TextBox 1156"/>
          <p:cNvSpPr txBox="1"/>
          <p:nvPr/>
        </p:nvSpPr>
        <p:spPr>
          <a:xfrm>
            <a:off x="324000" y="8496000"/>
            <a:ext cx="4896000" cy="468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A. 4-Point Planar Perspective Homography Matrix: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converts pixel coordinates (u, v) to real-world ground meters (xₘ, yₘ) via a 3×3 homography H.</a:t>
            </a:r>
          </a:p>
        </p:txBody>
      </p:sp>
      <p:pic>
        <p:nvPicPr>
          <p:cNvPr id="1158" name="Picture 1157" descr="eq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39" y="9018000"/>
            <a:ext cx="4044521" cy="342000"/>
          </a:xfrm>
          <a:prstGeom prst="rect">
            <a:avLst/>
          </a:prstGeom>
        </p:spPr>
      </p:pic>
      <p:sp>
        <p:nvSpPr>
          <p:cNvPr id="1159" name="TextBox 1158"/>
          <p:cNvSpPr txBox="1"/>
          <p:nvPr/>
        </p:nvSpPr>
        <p:spPr>
          <a:xfrm>
            <a:off x="324000" y="9396000"/>
            <a:ext cx="4896000" cy="360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B. Continuous Density Surface Integration: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continuous head regression over GIS polygon zone Z:</a:t>
            </a:r>
          </a:p>
        </p:txBody>
      </p:sp>
      <p:pic>
        <p:nvPicPr>
          <p:cNvPr id="1160" name="Picture 1159" descr="eq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117" y="9792000"/>
            <a:ext cx="2587764" cy="432000"/>
          </a:xfrm>
          <a:prstGeom prst="rect">
            <a:avLst/>
          </a:prstGeom>
        </p:spPr>
      </p:pic>
      <p:sp>
        <p:nvSpPr>
          <p:cNvPr id="1161" name="TextBox 1160"/>
          <p:cNvSpPr txBox="1"/>
          <p:nvPr/>
        </p:nvSpPr>
        <p:spPr>
          <a:xfrm>
            <a:off x="324000" y="10404000"/>
            <a:ext cx="4896000" cy="360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C. Hazard-Penalized Dynamic Routing Cost:</a:t>
            </a:r>
          </a:p>
        </p:txBody>
      </p:sp>
      <p:pic>
        <p:nvPicPr>
          <p:cNvPr id="1162" name="Picture 1161" descr="eq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000" y="10674000"/>
            <a:ext cx="4752000" cy="303852"/>
          </a:xfrm>
          <a:prstGeom prst="rect">
            <a:avLst/>
          </a:prstGeom>
        </p:spPr>
      </p:pic>
      <p:sp>
        <p:nvSpPr>
          <p:cNvPr id="1163" name="TextBox 1162"/>
          <p:cNvSpPr txBox="1"/>
          <p:nvPr/>
        </p:nvSpPr>
        <p:spPr>
          <a:xfrm>
            <a:off x="324000" y="11376000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Conclusion / Summary</a:t>
            </a:r>
          </a:p>
        </p:txBody>
      </p:sp>
      <p:cxnSp>
        <p:nvCxnSpPr>
          <p:cNvPr id="1164" name="Connector 1163"/>
          <p:cNvCxnSpPr/>
          <p:nvPr/>
        </p:nvCxnSpPr>
        <p:spPr>
          <a:xfrm>
            <a:off x="324000" y="11718000"/>
            <a:ext cx="4896000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5" name="Rounded Rectangle 1164"/>
          <p:cNvSpPr/>
          <p:nvPr/>
        </p:nvSpPr>
        <p:spPr>
          <a:xfrm>
            <a:off x="3708000" y="11448000"/>
            <a:ext cx="1475999" cy="216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427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Summary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324000" y="11754000"/>
            <a:ext cx="4896000" cy="1512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CrowdShield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establishes that ultra-dense crowd safety does not require cloud connectivity or expensive optical infrastructure. By integrating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dilated convolutional density maps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with an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autonomous dual-radio wireless mesh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, the system provides sub-second localized audible guidance, isolating stamped or burned zones in real time.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324000" y="13067999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References (APA Format)</a:t>
            </a:r>
          </a:p>
        </p:txBody>
      </p:sp>
      <p:cxnSp>
        <p:nvCxnSpPr>
          <p:cNvPr id="1168" name="Connector 1167"/>
          <p:cNvCxnSpPr/>
          <p:nvPr/>
        </p:nvCxnSpPr>
        <p:spPr>
          <a:xfrm>
            <a:off x="324000" y="13410000"/>
            <a:ext cx="4896000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9" name="TextBox 1168"/>
          <p:cNvSpPr txBox="1"/>
          <p:nvPr/>
        </p:nvSpPr>
        <p:spPr>
          <a:xfrm>
            <a:off x="324000" y="13427999"/>
            <a:ext cx="4896000" cy="900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Li, Y., Zhang, X., &amp; Chen, D. (2018). CSRNet: Dilated convolutional neural networks for understanding the highly congested scenes. CVPR, 1091–1100.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Song, Q., et al. (2021). Rethinking counting and localization in crowds: A purely point-based framework. ICCV, 3365–3374.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Wang, B., Liu, H., et al. (2020). Distribution matching for crowd counting. NeurIPS, 33.</a:t>
            </a:r>
          </a:p>
        </p:txBody>
      </p:sp>
      <p:sp>
        <p:nvSpPr>
          <p:cNvPr id="1170" name="TextBox 1169"/>
          <p:cNvSpPr txBox="1"/>
          <p:nvPr/>
        </p:nvSpPr>
        <p:spPr>
          <a:xfrm>
            <a:off x="5472000" y="1944000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Methodology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5472000" y="2286000"/>
            <a:ext cx="4895999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Rounded Rectangle 1171"/>
          <p:cNvSpPr/>
          <p:nvPr/>
        </p:nvSpPr>
        <p:spPr>
          <a:xfrm>
            <a:off x="8856000" y="2016000"/>
            <a:ext cx="1475999" cy="216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427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End-to-End Pipeline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5472000" y="2322000"/>
            <a:ext cx="4896000" cy="576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The architecture decouples heavy neural computation from field radio downlinks via an asynchronous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FastAPI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engine and distributed hardware gateways.</a:t>
            </a:r>
          </a:p>
        </p:txBody>
      </p:sp>
      <p:pic>
        <p:nvPicPr>
          <p:cNvPr id="1174" name="Picture 1173" descr="fig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999" y="2862000"/>
            <a:ext cx="3384000" cy="3167404"/>
          </a:xfrm>
          <a:prstGeom prst="rect">
            <a:avLst/>
          </a:prstGeom>
        </p:spPr>
      </p:pic>
      <p:sp>
        <p:nvSpPr>
          <p:cNvPr id="1175" name="TextBox 1174"/>
          <p:cNvSpPr txBox="1"/>
          <p:nvPr/>
        </p:nvSpPr>
        <p:spPr>
          <a:xfrm>
            <a:off x="5472000" y="6047403"/>
            <a:ext cx="4896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Fig. 1. End-to-end CrowdShield pipeline from ingest to hardware actuation.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5472000" y="6317403"/>
            <a:ext cx="4896000" cy="2520000"/>
          </a:xfrm>
          <a:prstGeom prst="rect">
            <a:avLst/>
          </a:prstGeom>
          <a:noFill/>
        </p:spPr>
        <p:txBody>
          <a:bodyPr wrap="square" lIns="54000" tIns="28800" rIns="54000" bIns="288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Architectural Subsystems: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a) CSRNet Dilated Convolutions: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Uses a VGG-16 backbone with 4 dilated convolution layers (dilation rate r = 2) to expand the receptive field without downsampling, maintaining pixel-accurate density estimation during severe body occlusion.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b) P2PNet Direct Head Localization: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Predicts exact 2D point coordinates on human head crowns with cross-entropy and Hungarian matching, feeding precise spatial coordinates to the venue homography.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</a:rPr>
              <a:t>c) Hardware Fault Tolerance: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The gateway auto-connects over USB Serial (115200 baud). Zonal nodes incorporate anti-brownout bulk capacitors (1000 µF), a non-blocking FreeRTOS yield() watchdog reset, and 2.5 s playback debounce filters.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5472000" y="8928000"/>
            <a:ext cx="4896000" cy="342000"/>
          </a:xfrm>
          <a:prstGeom prst="rect">
            <a:avLst/>
          </a:prstGeom>
          <a:noFill/>
        </p:spPr>
        <p:txBody>
          <a:bodyPr wrap="square" lIns="54000" tIns="28800" rIns="54000" bIns="28800" anchor="ctr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Results</a:t>
            </a:r>
          </a:p>
        </p:txBody>
      </p:sp>
      <p:cxnSp>
        <p:nvCxnSpPr>
          <p:cNvPr id="1178" name="Connector 1177"/>
          <p:cNvCxnSpPr/>
          <p:nvPr/>
        </p:nvCxnSpPr>
        <p:spPr>
          <a:xfrm>
            <a:off x="5472000" y="9270000"/>
            <a:ext cx="4895999" cy="0"/>
          </a:xfrm>
          <a:prstGeom prst="line">
            <a:avLst/>
          </a:prstGeom>
          <a:ln w="25400">
            <a:solidFill>
              <a:srgbClr val="427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9" name="Rounded Rectangle 1178"/>
          <p:cNvSpPr/>
          <p:nvPr/>
        </p:nvSpPr>
        <p:spPr>
          <a:xfrm>
            <a:off x="8856000" y="9000000"/>
            <a:ext cx="1475999" cy="216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427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Model Benchmarks</a:t>
            </a:r>
          </a:p>
        </p:txBody>
      </p:sp>
      <p:graphicFrame>
        <p:nvGraphicFramePr>
          <p:cNvPr id="1180" name="Table 1179"/>
          <p:cNvGraphicFramePr>
            <a:graphicFrameLocks noGrp="1"/>
          </p:cNvGraphicFramePr>
          <p:nvPr/>
        </p:nvGraphicFramePr>
        <p:xfrm>
          <a:off x="5472000" y="9324000"/>
          <a:ext cx="4896000" cy="12599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Architecture Tier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Density Threshold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YOLOv8 Head Tracking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&lt; 2.5 p/m²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28.4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94.6%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P2PNet Point Locator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2.5 – &lt; 5.0 p/m²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16.1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91.0%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CSRNet Density Map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&gt; 5.0 p/m² (Crush)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19.0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DM-Count (Haze/Dust)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Perspective Choke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11.2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92.4%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1" name="TextBox 1180"/>
          <p:cNvSpPr txBox="1"/>
          <p:nvPr/>
        </p:nvSpPr>
        <p:spPr>
          <a:xfrm>
            <a:off x="5472000" y="10638000"/>
            <a:ext cx="4896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Table 1. Performance metrics of vision models across distinct crowd densities.</a:t>
            </a:r>
          </a:p>
        </p:txBody>
      </p:sp>
      <p:pic>
        <p:nvPicPr>
          <p:cNvPr id="1182" name="Picture 1181" descr="fig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3999" y="10872000"/>
            <a:ext cx="2268000" cy="1734353"/>
          </a:xfrm>
          <a:prstGeom prst="rect">
            <a:avLst/>
          </a:prstGeom>
        </p:spPr>
      </p:pic>
      <p:pic>
        <p:nvPicPr>
          <p:cNvPr id="1183" name="Picture 1182" descr="fig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7999" y="10872000"/>
            <a:ext cx="2268000" cy="1734353"/>
          </a:xfrm>
          <a:prstGeom prst="rect">
            <a:avLst/>
          </a:prstGeom>
        </p:spPr>
      </p:pic>
      <p:sp>
        <p:nvSpPr>
          <p:cNvPr id="1184" name="TextBox 1183"/>
          <p:cNvSpPr txBox="1"/>
          <p:nvPr/>
        </p:nvSpPr>
        <p:spPr>
          <a:xfrm>
            <a:off x="5543999" y="12600000"/>
            <a:ext cx="2268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Fig. 2. Accuracy vs crowd density.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8027999" y="12600000"/>
            <a:ext cx="2268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Fig. 3. Evacuation clearance curves.</a:t>
            </a:r>
          </a:p>
        </p:txBody>
      </p:sp>
      <p:graphicFrame>
        <p:nvGraphicFramePr>
          <p:cNvPr id="1186" name="Table 1185"/>
          <p:cNvGraphicFramePr>
            <a:graphicFrameLocks noGrp="1"/>
          </p:cNvGraphicFramePr>
          <p:nvPr/>
        </p:nvGraphicFramePr>
        <p:xfrm>
          <a:off x="5472000" y="12870000"/>
          <a:ext cx="4896000" cy="11048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Network Layer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Packet Delivery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Cloud Dependency</a:t>
                      </a:r>
                    </a:p>
                  </a:txBody>
                  <a:tcPr marL="43200" marR="43200" marT="14400" marB="144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2.4 GHz ESP-NOW Mesh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4.2 ms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99.4%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0% (100% Offline)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433 MHz LoRa SX1278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120 ms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98.8%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0% (100% Offline)</a:t>
                      </a:r>
                    </a:p>
                  </a:txBody>
                  <a:tcPr marL="43200" marR="43200" marT="14400" marB="1440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Cellular 4G/5G (Jammed)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1,840 ms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24.1% (Blackout)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100% (High Risk)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87" name="TextBox 1186"/>
          <p:cNvSpPr txBox="1"/>
          <p:nvPr/>
        </p:nvSpPr>
        <p:spPr>
          <a:xfrm>
            <a:off x="5472000" y="13896000"/>
            <a:ext cx="4896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Table 2. Dual-radio transmission metrics vs cellular baseline.</a:t>
            </a:r>
          </a:p>
        </p:txBody>
      </p:sp>
      <p:sp>
        <p:nvSpPr>
          <p:cNvPr id="1188" name="Rectangle 1187"/>
          <p:cNvSpPr/>
          <p:nvPr/>
        </p:nvSpPr>
        <p:spPr>
          <a:xfrm>
            <a:off x="216000" y="14364000"/>
            <a:ext cx="10224000" cy="39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Contact: raghunandhan.p2020@vitstudent.ac.in   |   Mentor: faculty_guide@vit.ac.in   |   Venue: SCOPE / SENSE Capstone Project Expo, VIT Vellore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867</Words>
  <Application>Microsoft Office PowerPoint</Application>
  <PresentationFormat>Custom</PresentationFormat>
  <Paragraphs>64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Raghunandhan P</cp:lastModifiedBy>
  <cp:revision>4</cp:revision>
  <dcterms:modified xsi:type="dcterms:W3CDTF">2026-10-29T10:02:24Z</dcterms:modified>
</cp:coreProperties>
</file>