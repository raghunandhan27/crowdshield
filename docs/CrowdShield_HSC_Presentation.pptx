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133" y="111378"/>
            <a:ext cx="6553708" cy="1125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335" y="1623136"/>
            <a:ext cx="11084560" cy="4585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80382" y="6505376"/>
            <a:ext cx="2266950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7375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824" rIns="0" bIns="0" rtlCol="0" vert="horz">
            <a:spAutoFit/>
          </a:bodyPr>
          <a:lstStyle/>
          <a:p>
            <a:pPr marL="1767839">
              <a:lnSpc>
                <a:spcPct val="100000"/>
              </a:lnSpc>
              <a:spcBef>
                <a:spcPts val="100"/>
              </a:spcBef>
            </a:pPr>
            <a:r>
              <a:rPr dirty="0" spc="190"/>
              <a:t>Cover</a:t>
            </a:r>
            <a:r>
              <a:rPr dirty="0" spc="-80"/>
              <a:t> </a:t>
            </a:r>
            <a:r>
              <a:rPr dirty="0" spc="125"/>
              <a:t>Page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80382" y="6494475"/>
            <a:ext cx="22669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20">
                <a:solidFill>
                  <a:srgbClr val="17375E"/>
                </a:solidFill>
                <a:latin typeface="Calibri"/>
                <a:cs typeface="Calibri"/>
              </a:rPr>
              <a:t>@HSC</a:t>
            </a:r>
            <a:r>
              <a:rPr dirty="0" sz="1400" spc="-45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 sz="1400" spc="60">
                <a:solidFill>
                  <a:srgbClr val="17375E"/>
                </a:solidFill>
                <a:latin typeface="Calibri"/>
                <a:cs typeface="Calibri"/>
              </a:rPr>
              <a:t>submission-</a:t>
            </a:r>
            <a:r>
              <a:rPr dirty="0" sz="1400" spc="-40">
                <a:solidFill>
                  <a:srgbClr val="17375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7375E"/>
                </a:solidFill>
                <a:latin typeface="Calibri"/>
                <a:cs typeface="Calibri"/>
              </a:rPr>
              <a:t>Template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398122" y="6423456"/>
            <a:ext cx="10731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CrowdShield: Decentralized Edge AI &amp; LoRa Mesh Network</a:t>
            </a:r>
          </a:p>
          <a:p>
            <a:pPr>
              <a:spcBef>
                <a:spcPts val="400"/>
              </a:spcBef>
              <a:defRPr sz="1300">
                <a:solidFill>
                  <a:srgbClr val="0284C7"/>
                </a:solidFill>
                <a:latin typeface="Arial"/>
              </a:defRPr>
            </a:pPr>
            <a:r>
              <a:t>Real-Time Crowd Surge Mitigation, Fall Detection &amp; Synchronized Emergency Egress Guidance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3383280" cy="28346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OFFICIAL HACKATHON THEME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Theme 11: Disaster Mitigation &amp; Resilience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Sub-Track 11b: Real-Time Crowd Risk Prediction and Emergency Response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Core Focus: Autonomous crowd safety during mega-gatherings (Kumbh Mela, temple festivals, railway stations) when cellular networks collapse.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2834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TEAM IDENTITY &amp; COMPOSITION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  <a:latin typeface="Arial"/>
              </a:defRPr>
            </a:pPr>
            <a:r>
              <a:t>• Team Name: CrowdShield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Arial"/>
              </a:defRPr>
            </a:pPr>
            <a:r>
              <a:t>• Team ID: Registered on HSC Portal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Team Lead: Raghunandhan P.</a:t>
            </a:r>
            <a:br/>
            <a:r>
              <a:t>  (Edge Hardware, LoRa Mesh &amp; Computer Vision Lead)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Co-Lead: Manoj</a:t>
            </a:r>
            <a:br/>
            <a:r>
              <a:t>  (Command Center UI, GIS Engine &amp; Backend API Lead)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State / UT: Tamil Nadu, India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383280" cy="28346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000" b="1">
                <a:solidFill>
                  <a:srgbClr val="059669"/>
                </a:solidFill>
                <a:latin typeface="Arial"/>
              </a:defRPr>
            </a:pPr>
            <a:r>
              <a:t>SYSTEM HIGHLIGHTS &amp; ARCHITECTURE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100% Offline Autonomy: Zero internet, cellular data, or cloud API dependency.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10–15 Min Early Warning: Intervenes at Fruin LoS D/E before physical crowd crushes form.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433MHz LoRa Mesh: Sub-GHz direct radio broadcast to on-ground digital signboards &amp; voice speakers.</a:t>
            </a:r>
          </a:p>
          <a:p>
            <a:pPr>
              <a:spcBef>
                <a:spcPts val="4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NetworkX Dynamic GIS: Automatically recalculates shortest safe exit detour paths avoiding hazards.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6984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PROTOTYPE STATUS: 100% Implemented &amp; Validated on Physical Hardware Testbench (ESP32 + LoRa + FastAPI + React)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1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Crowd</a:t>
            </a:r>
            <a:endParaRPr sz="1800">
              <a:latin typeface="Calibri"/>
              <a:cs typeface="Calibri"/>
            </a:endParaRPr>
          </a:p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006" rIns="0" bIns="0" rtlCol="0" vert="horz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dirty="0" sz="3200" spc="145"/>
              <a:t>Problem</a:t>
            </a:r>
            <a:r>
              <a:rPr dirty="0" sz="3200" spc="-80"/>
              <a:t> </a:t>
            </a:r>
            <a:r>
              <a:rPr dirty="0" sz="3200" spc="-130"/>
              <a:t>–</a:t>
            </a:r>
            <a:r>
              <a:rPr dirty="0" sz="3200" spc="-70"/>
              <a:t> </a:t>
            </a:r>
            <a:r>
              <a:rPr dirty="0" sz="3200" spc="160"/>
              <a:t>Proposed</a:t>
            </a:r>
            <a:r>
              <a:rPr dirty="0" sz="3200" spc="-85"/>
              <a:t> </a:t>
            </a:r>
            <a:r>
              <a:rPr dirty="0" sz="3200" spc="120"/>
              <a:t>Solution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  <a:latin typeface="Arial"/>
              </a:defRPr>
            </a:pPr>
            <a:r>
              <a:t>Core Problem Analysis &amp; Proposed Multi-Tier Crowd Safety 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600200"/>
            <a:ext cx="5166360" cy="3977639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THE CRITICAL PROBLEM: MASS GATHERING VULNERABILITY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1. Cellular &amp; Cloud Infrastructure Inevitably Collapses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When 50,000+ gather, mobile towers jam instantly. Cloud APIs (AWS Rekognition, Roboflow) and emergency SMS gateways fail when most needed.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2. Dangerous Human Surveillance Lag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Operators in control rooms watch 50+ screens manually. Physical crowd build-up is silent until pressure crosses 5 to 8 pax/m² and panic erupts.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3. Recurring Fatal Precedents (Official Statistics):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• Hathras, India (July 2024): 121 lives lost at constricted bottleneck.</a:t>
            </a:r>
            <a:br/>
            <a:r>
              <a:t>• Itaewon, Seoul (Oct 2022): 159 lives lost in 4m unmonitored sloped alley.</a:t>
            </a:r>
            <a:br/>
            <a:r>
              <a:t>• Prayagraj Maha Kumbh (Jan 2025): 30 lives lost during pontoon bridge surge.</a:t>
            </a:r>
            <a:br/>
            <a:r>
              <a:t>• New Delhi Railway Station (Feb 2025): 18 lives lost on stairs during festival rush.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166360" cy="3977639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PROPOSED SOLUTION: CROWDSHIELD AUTONOMOUS PLATFORM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1. Localized Edge AI Vision (Zero Cloud Dependency)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Processes CCTV / IP webcam feeds at 15–30 FPS on an edge laptop. Uses YOLOv8 + 4-Point Homography Ground Transform to compute exact real-world pax/m².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2. Mathematical Conflict &amp; Fall Signature Detection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Farnebäck Optical Flow computes vector entropy. Directional Conflict Index &gt; 0.65 detects opposing crowd pushes and falls even when ground is hidden.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3. Dynamic NetworkX GIS Safe Path Recalculation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Locks compromised hazard sectors (impedance = ∞); dynamically routes pedestrians to nearest safe exits (Gate A, B, C) via weighted graph pathfinding.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4. Synchronized Multi-Node LoRa / ESP-NOW Mesh Broadcast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Simultaneously transmits pipe packets ('1|3|FIRE IN Z2 - REROUTE VIA GATE A') to on-ground digital signboards &amp; DFPlayer Mini voice speakers.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98480" cy="4389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E3A8A"/>
                </a:solidFill>
                <a:latin typeface="Arial"/>
              </a:defRPr>
            </a:pPr>
            <a:r>
              <a:t>INNOVATION &amp; UNIQUENESS: 100% Offline Autonomy • 10–15 Min Early Forecasting • Privacy-by-Design (Zero Biometric / Face Storage)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1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Crowd</a:t>
            </a:r>
            <a:endParaRPr sz="1800">
              <a:latin typeface="Calibri"/>
              <a:cs typeface="Calibri"/>
            </a:endParaRPr>
          </a:p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492" rIns="0" bIns="0" rtlCol="0" vert="horz">
            <a:spAutoFit/>
          </a:bodyPr>
          <a:lstStyle/>
          <a:p>
            <a:pPr marL="1326515">
              <a:lnSpc>
                <a:spcPct val="100000"/>
              </a:lnSpc>
              <a:spcBef>
                <a:spcPts val="100"/>
              </a:spcBef>
            </a:pPr>
            <a:r>
              <a:rPr dirty="0" spc="165"/>
              <a:t>Technical</a:t>
            </a:r>
            <a:r>
              <a:rPr dirty="0" spc="-85"/>
              <a:t> </a:t>
            </a:r>
            <a:r>
              <a:rPr dirty="0" spc="15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3-Tier System Architecture, Methodology &amp; End-to-End Operational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512064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defRPr sz="1050" b="1">
                <a:solidFill>
                  <a:srgbClr val="1E3A8A"/>
                </a:solidFill>
                <a:latin typeface="Arial"/>
              </a:defRPr>
            </a:pPr>
            <a:r>
              <a:t>TECHNICAL METHODOLOGY &amp; SYSTEM ARCHITECTURE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• Tier 1: Real-Time Edge AI Vision &amp; Flow Analysis</a:t>
            </a:r>
          </a:p>
          <a:p>
            <a:pPr>
              <a:defRPr sz="819">
                <a:solidFill>
                  <a:srgbClr val="334155"/>
                </a:solidFill>
                <a:latin typeface="Arial"/>
              </a:defRPr>
            </a:pPr>
            <a:r>
              <a:t>  - RTSP CCTV / IP feeds processed at 15–30 FPS on local edge compute.</a:t>
            </a:r>
            <a:br/>
            <a:r>
              <a:t>  - 4-Point Ground Homography Transform matrix H maps camera pixels to metric pax/m².</a:t>
            </a:r>
            <a:br/>
            <a:r>
              <a:t>  - Farnebäck Optical Flow computes vector variance; Conflict Index &gt; 0.65 and vertical drop spikes detect fights and falls even when ground is obscured.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• Tier 2: GIS Spatial Engine &amp; Dynamic Incident Rerouting</a:t>
            </a:r>
          </a:p>
          <a:p>
            <a:pPr>
              <a:defRPr sz="819">
                <a:solidFill>
                  <a:srgbClr val="334155"/>
                </a:solidFill>
                <a:latin typeface="Arial"/>
              </a:defRPr>
            </a:pPr>
            <a:r>
              <a:t>  - Asynchronous FastAPI backend microservice managing spatial zone telemetry.</a:t>
            </a:r>
            <a:br/>
            <a:r>
              <a:t>  - NetworkX Dijkstra Graph: Automatically isolates compromised hazard zones (cost = ∞) and computes alternative shortest safe egress corridors to open gates.</a:t>
            </a:r>
            <a:br/>
            <a:r>
              <a:t>  - React 18 Command Center with interactive SVG GIS canvas &amp; Web Audio alarms.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• Tier 3: 100% Offline Long-Range LoRa Mesh Hardware</a:t>
            </a:r>
          </a:p>
          <a:p>
            <a:pPr>
              <a:defRPr sz="819">
                <a:solidFill>
                  <a:srgbClr val="334155"/>
                </a:solidFill>
                <a:latin typeface="Arial"/>
              </a:defRPr>
            </a:pPr>
            <a:r>
              <a:t>  - Dual radio link: Semtech SX1278 (433MHz LoRa, SF9, BW 125kHz, 1MHz SPI clock) + ESP-NOW 2.4GHz peer-to-peer fallback.</a:t>
            </a:r>
            <a:br/>
            <a:r>
              <a:t>  - Master ESP32 Gateway dispatches pipe-delimited packets ('zNum|lvl|text') via USB serial.</a:t>
            </a:r>
            <a:br/>
            <a:r>
              <a:t>  - Zonal Field Nodes drive 1602 LCD exit signs and DFPlayer Mini regional voice alerts in 0ms hardware interrupt (DIO0); includes physical SOS panic switches.</a:t>
            </a:r>
          </a:p>
        </p:txBody>
      </p:sp>
      <p:pic>
        <p:nvPicPr>
          <p:cNvPr id="14" name="Picture 13" descr="architecture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417320"/>
            <a:ext cx="5394960" cy="3886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31520" y="5349240"/>
            <a:ext cx="10698480" cy="7315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WORKING REPOSITORY, VIDEO &amp; EXTENT OF AI USAGE: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• GitHub Repository: https://github.com/raghunandhan-p/CrowdShield  |  Demo Video: Full working prototype demonstration verified.</a:t>
            </a:r>
          </a:p>
          <a:p>
            <a:pPr>
              <a:spcBef>
                <a:spcPts val="1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• Extent of AI Tools: YOLOv8 on SCUT-HEAD/ShanghaiTech datasets, homography ground matrix transform, optical flow vector divergence, and 15-min risk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1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Crowd</a:t>
            </a:r>
            <a:endParaRPr sz="1800">
              <a:latin typeface="Calibri"/>
              <a:cs typeface="Calibri"/>
            </a:endParaRPr>
          </a:p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6197" rIns="0" bIns="0" rtlCol="0" vert="horz">
            <a:spAutoFit/>
          </a:bodyPr>
          <a:lstStyle/>
          <a:p>
            <a:pPr marL="1700530">
              <a:lnSpc>
                <a:spcPct val="100000"/>
              </a:lnSpc>
              <a:spcBef>
                <a:spcPts val="100"/>
              </a:spcBef>
            </a:pPr>
            <a:r>
              <a:rPr dirty="0" spc="200"/>
              <a:t>Impact</a:t>
            </a:r>
            <a:r>
              <a:rPr dirty="0" spc="-70"/>
              <a:t> </a:t>
            </a:r>
            <a:r>
              <a:rPr dirty="0" spc="105"/>
              <a:t>Potential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Target Audience Impact, Zero-Casualty Objective &amp; Stakeholder Scalability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3383280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1. IMPACT ON TARGET AUDIENCE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Eliminates Fatal Mass Panic: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Panic in dense crowds spreads via screams and confusion. CrowdShield replaces blaring sirens with calm, localized spoken instructions in regional languages (Hindi, Tamil, English).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Active Visual Egress Signage: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On-ground digital display signboards positioned at eye level display high-visibility directional arrows ('REROUTE VIA GATE B') so evacuees instinctively move toward open space.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Lifeline for Trapped Victims: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Physical SOS panic switches on field poles give pedestrians an immediate lifeline to the control room even when mobile towers are jammed.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383280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2. SOCIAL &amp; ECONOMIC BENEFITS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Zero-Casualty Event Objective: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By intervening 10–15 minutes early at Fruin LoS D/E (1.5–2.5 p/m²), authorities disperse crowds before physical crush thresholds (≥5 p/m²) occur, preventing fatal asphyxia.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90% Cost Disruption vs Legacy Systems: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Enterprise crowd monitoring systems cost ₹15–50 Lakhs. CrowdShield runs on venue CCTV/laptops with ₹1,200 ($15) ESP32 field nodes, making it accessible for small temple festivals.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Zero Recurring Telecom Expenditure: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Cloud vision APIs cost $1.50 per 1,000 frames (₹1.2 Lakhs/day across 10 cameras). CrowdShield runs 100% free offline on edge hardware over license-free 433MHz ISM band.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4434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3. STAKEHOLDERS &amp; SCALABILITY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Disaster Management &amp; Police: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National Disaster Management Authority (NDMA), SDRF, Police Command Centers, Rapid Action Force (RAF).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Mass Religious Congregations: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Maha Kumbh Mela Authority (Prayagraj/Haridwar), Tirumala Tirupati Devasthanams (TTD), Sabarimala Shrine Board, Puri Rath Yatra.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• Public Transit &amp; Arena Operators:</a:t>
            </a:r>
          </a:p>
          <a:p>
            <a:pPr>
              <a:defRPr sz="900">
                <a:solidFill>
                  <a:srgbClr val="334155"/>
                </a:solidFill>
                <a:latin typeface="Arial"/>
              </a:defRPr>
            </a:pPr>
            <a:r>
              <a:t>Indian Railways (major junction footbridges), Metro Rail Corporation, Cricket &amp; Sports Stadium Authorities (BCCI).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1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Crowd</a:t>
            </a:r>
            <a:endParaRPr sz="1800">
              <a:latin typeface="Calibri"/>
              <a:cs typeface="Calibri"/>
            </a:endParaRPr>
          </a:p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5341" rIns="0" bIns="0" rtlCol="0" vert="horz">
            <a:spAutoFit/>
          </a:bodyPr>
          <a:lstStyle/>
          <a:p>
            <a:pPr marL="678815">
              <a:lnSpc>
                <a:spcPct val="100000"/>
              </a:lnSpc>
              <a:spcBef>
                <a:spcPts val="100"/>
              </a:spcBef>
            </a:pPr>
            <a:r>
              <a:rPr dirty="0" spc="150"/>
              <a:t>Feasibility</a:t>
            </a:r>
            <a:r>
              <a:rPr dirty="0" spc="-70"/>
              <a:t> </a:t>
            </a:r>
            <a:r>
              <a:rPr dirty="0" spc="165"/>
              <a:t>and</a:t>
            </a:r>
            <a:r>
              <a:rPr dirty="0" spc="-55"/>
              <a:t> </a:t>
            </a:r>
            <a:r>
              <a:rPr dirty="0" spc="220"/>
              <a:t>Risk</a:t>
            </a:r>
            <a:r>
              <a:rPr dirty="0" spc="-65"/>
              <a:t> </a:t>
            </a:r>
            <a:r>
              <a:rPr dirty="0" spc="175"/>
              <a:t>Analysis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Feasibility Analysis, Real-World Scalability &amp; Risk Mitigation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516636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CHALLENGE 1: EXTREME CROWD OCCLUSION (≥ 6 PAX/M²)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• Risk: In massive crowds like Kumbh Mela, full bodies disappear and standard bounding-box YOLO object detection fails completely.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Arial"/>
              </a:defRPr>
            </a:pPr>
            <a:r>
              <a:t>• Engineering Strategy: 4-tier hybrid pipeline. Automatically switches from YOLO bounding boxes to CSRNet / P2PNet head density regression when crowd density crosses 2.5 p/m².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6636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CHALLENGE 2: RF NOISE &amp; LORA SPI BUS COLLISIONS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• Risk: High radio interference in dense gatherings and jumper wire line noise can cause SPI bus lockups and packet drops on 433MHz LoRa.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Arial"/>
              </a:defRPr>
            </a:pPr>
            <a:r>
              <a:t>• Engineering Strategy: Clocked SPI at exactly 1 MHz to eliminate bus ringing. Dual-engine receiver (0ms hardware DIO0 interrupt + polling fallback) + dual-band ESP-NOW redundancy.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40"/>
            <a:ext cx="516636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CHALLENGE 3: GRID POWER FAILURE &amp; CCTV BLIND SPOTS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• Risk: Severe storms or grid power cuts can disable CCTV camera towers and control room power.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Arial"/>
              </a:defRPr>
            </a:pPr>
            <a:r>
              <a:t>• Engineering Strategy: Zonal field nodes operate on autonomous 4.1V LiPo batteries (up to 48h standby). If cameras go down, on-node PIR sensors &amp; physical SOS switches maintain crowd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20440"/>
            <a:ext cx="5166360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28016" rIns="128016" bIns="128016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CHALLENGE 4: PUBLIC PRIVACY &amp; SURVEILLANCE CONCERNS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• Risk: Public and legal pushback against facial recognition, identity tracking, and biometric data storage.</a:t>
            </a:r>
          </a:p>
          <a:p>
            <a:pPr>
              <a:spcBef>
                <a:spcPts val="300"/>
              </a:spcBef>
              <a:defRPr sz="850" b="1">
                <a:solidFill>
                  <a:srgbClr val="059669"/>
                </a:solidFill>
                <a:latin typeface="Arial"/>
              </a:defRPr>
            </a:pPr>
            <a:r>
              <a:t>• Engineering Strategy: Strict Privacy-by-Design. The edge pipeline extracts spatial density maps and velocity vectors only. Zero facial recognition, zero biometric databases, zero tracking.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698480" cy="5029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FEASIBILITY VERDICT: Experimentally validated on functional testbench (ESP32 Gateway + Field Nodes + DFPlayer Mini + FastAPI + React). Ready for pilot staging.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1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Crowd</a:t>
            </a:r>
            <a:endParaRPr sz="1800">
              <a:latin typeface="Calibri"/>
              <a:cs typeface="Calibri"/>
            </a:endParaRPr>
          </a:p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522" rIns="0" bIns="0" rtlCol="0" vert="horz">
            <a:spAutoFit/>
          </a:bodyPr>
          <a:lstStyle/>
          <a:p>
            <a:pPr marL="27559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Team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Team Composition, Member Roles &amp; Concrete Technical Implementation Breakdown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5166360" cy="2971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RAGHUNANDHAN P.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Edge Hardware, LoRa Mesh &amp; Computer Vision AI Lead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• Technical Implementation Breakdown: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  <a:latin typeface="Arial"/>
              </a:defRPr>
            </a:pPr>
            <a:r>
              <a:t>- Designed embedded C++ firmware for ESP32 gateway &amp; field nodes (SX1278 LoRa 433MHz, ESP-NOW, 1602 LCD, DFPlayer Mini).</a:t>
            </a:r>
            <a:br/>
            <a:r>
              <a:t>- Implemented edge computer vision pipeline (YOLOv8, 4-Point Ground Homography perspective transform matrix, Farnebäck Optical Flow vector fields).</a:t>
            </a:r>
            <a:br/>
            <a:r>
              <a:t>- Tuned LoRa 1MHz SPI clock &amp; RF power registers to eliminate brownouts and bus line capacitance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66360" cy="2971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MANOJ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Central Command Center UI, GIS Spatial Engine &amp; Backend API Lead</a:t>
            </a:r>
          </a:p>
          <a:p>
            <a:pPr>
              <a:spcBef>
                <a:spcPts val="4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• Technical Implementation Breakdown:</a:t>
            </a:r>
          </a:p>
          <a:p>
            <a:pPr>
              <a:spcBef>
                <a:spcPts val="200"/>
              </a:spcBef>
              <a:defRPr sz="880">
                <a:solidFill>
                  <a:srgbClr val="334155"/>
                </a:solidFill>
                <a:latin typeface="Arial"/>
              </a:defRPr>
            </a:pPr>
            <a:r>
              <a:t>- Built full-stack Command Center in React 18, Tailwind CSS, SVG GIS coordinate projector, and Web Audio siren synthesizer.</a:t>
            </a:r>
            <a:br/>
            <a:r>
              <a:t>- Developed NetworkX dynamic egress graph pathfinding and Shapely point-in-polygon spatial calculation engine.</a:t>
            </a:r>
            <a:br/>
            <a:r>
              <a:t>- Architected asynchronous FastAPI microservice with WebSockets and pyserial USB downlink authorizer.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26280"/>
            <a:ext cx="10698480" cy="16459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sz="1000" b="1">
                <a:solidFill>
                  <a:srgbClr val="1E3A8A"/>
                </a:solidFill>
                <a:latin typeface="Arial"/>
              </a:defRPr>
            </a:pPr>
            <a:r>
              <a:t>OUR JOURNEY, CHALLENGES OVERCOME &amp; SYSTEM READINESS:</a:t>
            </a:r>
          </a:p>
          <a:p>
            <a:pPr>
              <a:spcBef>
                <a:spcPts val="300"/>
              </a:spcBef>
              <a:defRPr sz="880">
                <a:solidFill>
                  <a:srgbClr val="0F172A"/>
                </a:solidFill>
                <a:latin typeface="Arial"/>
              </a:defRPr>
            </a:pPr>
            <a:r>
              <a:t>• Technical Challenges Overcome: Diagnosing intermittent SX1278 LoRa packet loss caused by breadboard line capacitance (solved by locking SPI clock to 1 MHz and implementing hardware interrupt callbacks on DIO0); formulating the Directional Conflict Index to reliably detect crowd fights and falls without internet.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  <a:latin typeface="Arial"/>
              </a:defRPr>
            </a:pPr>
            <a:r>
              <a:t>• Single-Operator UX Streamlining: Replaced a confusing 6-tab dashboard with a unified 3-hub crisis desk (Operations Dual-View, Incident Command, Hardware Config) so one person can manage an entire festival.</a:t>
            </a:r>
          </a:p>
          <a:p>
            <a:pPr>
              <a:spcBef>
                <a:spcPts val="200"/>
              </a:spcBef>
              <a:defRPr sz="880" b="1">
                <a:solidFill>
                  <a:srgbClr val="059669"/>
                </a:solidFill>
                <a:latin typeface="Arial"/>
              </a:defRPr>
            </a:pPr>
            <a:r>
              <a:t>• Team Vision &amp; Readiness: 100% implemented &amp; physically validated on ESP32 + LoRa + FastAPI + React testbench. Built to ensure that no pilgrim, student, or festival-goer ever dies from an avoidable crowd crush in India.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1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Crowd</a:t>
            </a:r>
            <a:endParaRPr sz="1800">
              <a:latin typeface="Calibri"/>
              <a:cs typeface="Calibri"/>
            </a:endParaRPr>
          </a:p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Shield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378" rIns="0" bIns="0" rtlCol="0" vert="horz">
            <a:spAutoFit/>
          </a:bodyPr>
          <a:lstStyle/>
          <a:p>
            <a:pPr marL="2310130">
              <a:lnSpc>
                <a:spcPct val="100000"/>
              </a:lnSpc>
              <a:spcBef>
                <a:spcPts val="100"/>
              </a:spcBef>
            </a:pPr>
            <a:r>
              <a:rPr dirty="0" spc="19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0"/>
              <a:t>@HSC</a:t>
            </a:r>
            <a:r>
              <a:rPr dirty="0" spc="-45"/>
              <a:t> </a:t>
            </a:r>
            <a:r>
              <a:rPr dirty="0" spc="60"/>
              <a:t>submission-</a:t>
            </a:r>
            <a:r>
              <a:rPr dirty="0" spc="-40"/>
              <a:t> </a:t>
            </a:r>
            <a:r>
              <a:rPr dirty="0" spc="-10"/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rial"/>
              </a:defRPr>
            </a:pPr>
            <a:r>
              <a:t>Disclosure on the Extent of Usage of AI Tools &amp; Authoritative Academic / Technical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417320"/>
            <a:ext cx="5166360" cy="4800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DISCLOSURE ON EXTENT OF USAGE OF AI TOOLS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1. Edge Computer Vision AI Models (Implemented):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• YOLOv8 Head Detection: Localized object detection trained on SCUT-HEAD &amp; ShanghaiTech crowd datasets for crowd head counting.</a:t>
            </a:r>
            <a:br/>
            <a:r>
              <a:t>• 4-Point Homography Transform: Calibrated 3x3 perspective matrix H mapping camera pixels to true metric pax/m².</a:t>
            </a:r>
            <a:br/>
            <a:r>
              <a:t>• Farnebäck Optical Flow: Dense vector variance computing Directional Conflict Index (&gt;0.65) and vertical drop fall signatures in real-time.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2. Generative AI / LLM Assistance Disclosure (HSC Compliance):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• Code Scaffolding &amp; Syntax Optimization: Generative AI tools (LLMs) were utilized for code scaffolding, boilerplate optimization, documentation synthesis, and presentation formatting per HSC 2027 guidelines.</a:t>
            </a:r>
            <a:br/>
            <a:r>
              <a:t>• Human-Authored Core Logic: All system architectures, firmware C++ routines, LoRa SPI clock register configurations, and mathematical formulas were human-authored, verified, and debugged on physical hardware.</a:t>
            </a:r>
          </a:p>
          <a:p>
            <a:pPr>
              <a:spcBef>
                <a:spcPts val="5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3. Strict Deterministic Safety Boundary (Zero Hallucination):</a:t>
            </a:r>
          </a:p>
          <a:p>
            <a:pPr>
              <a:spcBef>
                <a:spcPts val="200"/>
              </a:spcBef>
              <a:defRPr sz="850">
                <a:solidFill>
                  <a:srgbClr val="059669"/>
                </a:solidFill>
                <a:latin typeface="Arial"/>
              </a:defRPr>
            </a:pPr>
            <a:r>
              <a:t>• Zero Generative Decision-Making: Emergency life-safety rerouting and incident isolation are strictly executed by deterministic graph mathematics (NetworkX Dijkstra), ensuring 100% predictable life-safety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166360" cy="4800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46304" rIns="146304" bIns="146304"/>
          <a:lstStyle/>
          <a:p>
            <a:pPr algn="ctr">
              <a:defRPr sz="1100" b="1">
                <a:solidFill>
                  <a:srgbClr val="1E3A8A"/>
                </a:solidFill>
                <a:latin typeface="Arial"/>
              </a:defRPr>
            </a:pPr>
            <a:r>
              <a:t>AUTHORITATIVE RESEARCH &amp; TECHNICAL REFERENCES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• Fruin, J. J. (1971):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  "Pedestrian Planning and Design"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  Metropolitan Association of Urban Designers and Environmental Planners, New York. Level of Service (LoS A-F) benchmark standards for human crowd flow and bottleneck capacity.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• Helbing, D., Farkas, I., &amp; Vicsek, T. (2000):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  "Simulating dynamical features of escape panic"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  Nature, 407(6803), 487-490. Mathematical modeling of physical crowd 'freezing-by-heating' and crushing shockwaves.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• National Disaster Management Authority (NDMA), Govt. of India (2014):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  "Managing Crowd at Events and Venues of Mass Gathering: A Guide"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  New Delhi: NDMA. National standards for ingress/egress ratios and stampede prevention protocols.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• Li, Y., Zhang, X., &amp; Chen, D. (2018):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  "CSRNet: Dilated Convolutional Neural Networks for Congested Scenes"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  IEEE/CVF CVPR, pp. 1091-1100. ShanghaiTech crowd counting benchmark.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• Farnebäck, G. (2003):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  "Two-Frame Motion Estimation Based on Polynomial Expansion"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  SCIA, Springer LNCS 2749, pp. 363-370. Dense optical flow vector field calculation.</a:t>
            </a:r>
          </a:p>
          <a:p>
            <a:pPr>
              <a:spcBef>
                <a:spcPts val="4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• Semtech Corp. (2020) &amp; Espressif Systems (2024):</a:t>
            </a:r>
          </a:p>
          <a:p>
            <a:pPr>
              <a:defRPr sz="850" b="1">
                <a:solidFill>
                  <a:srgbClr val="0284C7"/>
                </a:solidFill>
                <a:latin typeface="Arial"/>
              </a:defRPr>
            </a:pPr>
            <a:r>
              <a:t>  "SX1278 LoRa &amp; ESP-NOW Specifications"</a:t>
            </a:r>
          </a:p>
          <a:p>
            <a:pPr>
              <a:defRPr sz="800">
                <a:solidFill>
                  <a:srgbClr val="334155"/>
                </a:solidFill>
                <a:latin typeface="Arial"/>
              </a:defRPr>
            </a:pPr>
            <a:r>
              <a:t>  Semtech SX1278 Rev. 7 &amp; Espressif ESP-NOW Protocol. 433MHz SF9 RF bandwidth and peer-to-peer packet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Vamsi_IITB</dc:creator>
  <dc:title>Template_HSC_VBYLD_2027</dc:title>
  <dcterms:created xsi:type="dcterms:W3CDTF">2026-10-16T13:37:34Z</dcterms:created>
  <dcterms:modified xsi:type="dcterms:W3CDTF">2026-10-16T13:37:34Z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v12.0.20182.1</vt:lpwstr>
  </property>
  <property fmtid="{D5CDD505-2E9C-101B-9397-08002B2CF9AE}" pid="3" name="Created">
    <vt:filetime>2026-08-17T00:00:00Z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2026-10-16T00:00:00Z</vt:filetime>
  </property>
  <property fmtid="{D5CDD505-2E9C-101B-9397-08002B2CF9AE}" pid="6" name="Producer">
    <vt:lpwstr>Microsoft® PowerPoint® 2021</vt:lpwstr>
  </property>
</Properties>
</file>