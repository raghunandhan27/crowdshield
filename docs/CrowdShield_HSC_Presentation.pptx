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rgbClr val="1F487C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rgbClr val="006FC0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17375E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dirty="0" spc="120"/>
              <a:t>@HSC</a:t>
            </a:r>
            <a:r>
              <a:rPr dirty="0" spc="-45"/>
              <a:t> </a:t>
            </a:r>
            <a:r>
              <a:rPr dirty="0" spc="60"/>
              <a:t>submission-</a:t>
            </a:r>
            <a:r>
              <a:rPr dirty="0" spc="-40"/>
              <a:t> </a:t>
            </a:r>
            <a:r>
              <a:rPr dirty="0" spc="-10"/>
              <a:t>Template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rgbClr val="1F487C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rgbClr val="006FC0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17375E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dirty="0" spc="120"/>
              <a:t>@HSC</a:t>
            </a:r>
            <a:r>
              <a:rPr dirty="0" spc="-45"/>
              <a:t> </a:t>
            </a:r>
            <a:r>
              <a:rPr dirty="0" spc="60"/>
              <a:t>submission-</a:t>
            </a:r>
            <a:r>
              <a:rPr dirty="0" spc="-40"/>
              <a:t> </a:t>
            </a:r>
            <a:r>
              <a:rPr dirty="0" spc="-10"/>
              <a:t>Template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rgbClr val="1F487C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17375E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dirty="0" spc="120"/>
              <a:t>@HSC</a:t>
            </a:r>
            <a:r>
              <a:rPr dirty="0" spc="-45"/>
              <a:t> </a:t>
            </a:r>
            <a:r>
              <a:rPr dirty="0" spc="60"/>
              <a:t>submission-</a:t>
            </a:r>
            <a:r>
              <a:rPr dirty="0" spc="-40"/>
              <a:t> </a:t>
            </a:r>
            <a:r>
              <a:rPr dirty="0" spc="-10"/>
              <a:t>Template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rgbClr val="1F487C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17375E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dirty="0" spc="120"/>
              <a:t>@HSC</a:t>
            </a:r>
            <a:r>
              <a:rPr dirty="0" spc="-45"/>
              <a:t> </a:t>
            </a:r>
            <a:r>
              <a:rPr dirty="0" spc="60"/>
              <a:t>submission-</a:t>
            </a:r>
            <a:r>
              <a:rPr dirty="0" spc="-40"/>
              <a:t> </a:t>
            </a:r>
            <a:r>
              <a:rPr dirty="0" spc="-10"/>
              <a:t>Template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17375E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dirty="0" spc="120"/>
              <a:t>@HSC</a:t>
            </a:r>
            <a:r>
              <a:rPr dirty="0" spc="-45"/>
              <a:t> </a:t>
            </a:r>
            <a:r>
              <a:rPr dirty="0" spc="60"/>
              <a:t>submission-</a:t>
            </a:r>
            <a:r>
              <a:rPr dirty="0" spc="-40"/>
              <a:t> </a:t>
            </a:r>
            <a:r>
              <a:rPr dirty="0" spc="-10"/>
              <a:t>Template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42133" y="111378"/>
            <a:ext cx="6553708" cy="11258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rgbClr val="1F487C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1335" y="1623136"/>
            <a:ext cx="11084560" cy="45857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rgbClr val="006FC0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580382" y="6505376"/>
            <a:ext cx="2266950" cy="243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rgbClr val="17375E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dirty="0" spc="120"/>
              <a:t>@HSC</a:t>
            </a:r>
            <a:r>
              <a:rPr dirty="0" spc="-45"/>
              <a:t> </a:t>
            </a:r>
            <a:r>
              <a:rPr dirty="0" spc="60"/>
              <a:t>submission-</a:t>
            </a:r>
            <a:r>
              <a:rPr dirty="0" spc="-40"/>
              <a:t> </a:t>
            </a:r>
            <a:r>
              <a:rPr dirty="0" spc="-10"/>
              <a:t>Template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42824" rIns="0" bIns="0" rtlCol="0" vert="horz">
            <a:spAutoFit/>
          </a:bodyPr>
          <a:lstStyle/>
          <a:p>
            <a:pPr marL="1767839">
              <a:lnSpc>
                <a:spcPct val="100000"/>
              </a:lnSpc>
              <a:spcBef>
                <a:spcPts val="100"/>
              </a:spcBef>
            </a:pPr>
            <a:r>
              <a:rPr dirty="0" spc="190"/>
              <a:t>Cover</a:t>
            </a:r>
            <a:r>
              <a:rPr dirty="0" spc="-80"/>
              <a:t> </a:t>
            </a:r>
            <a:r>
              <a:rPr dirty="0" spc="125"/>
              <a:t>Page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13233" y="32511"/>
            <a:ext cx="1824817" cy="93586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580382" y="6494475"/>
            <a:ext cx="2266950" cy="240029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400" spc="120">
                <a:solidFill>
                  <a:srgbClr val="17375E"/>
                </a:solidFill>
                <a:latin typeface="Calibri"/>
                <a:cs typeface="Calibri"/>
              </a:rPr>
              <a:t>@HSC</a:t>
            </a:r>
            <a:r>
              <a:rPr dirty="0" sz="1400" spc="-45">
                <a:solidFill>
                  <a:srgbClr val="17375E"/>
                </a:solidFill>
                <a:latin typeface="Calibri"/>
                <a:cs typeface="Calibri"/>
              </a:rPr>
              <a:t> </a:t>
            </a:r>
            <a:r>
              <a:rPr dirty="0" sz="1400" spc="60">
                <a:solidFill>
                  <a:srgbClr val="17375E"/>
                </a:solidFill>
                <a:latin typeface="Calibri"/>
                <a:cs typeface="Calibri"/>
              </a:rPr>
              <a:t>submission-</a:t>
            </a:r>
            <a:r>
              <a:rPr dirty="0" sz="1400" spc="-40">
                <a:solidFill>
                  <a:srgbClr val="17375E"/>
                </a:solidFill>
                <a:latin typeface="Calibri"/>
                <a:cs typeface="Calibri"/>
              </a:rPr>
              <a:t> </a:t>
            </a:r>
            <a:r>
              <a:rPr dirty="0" sz="1400" spc="-10">
                <a:solidFill>
                  <a:srgbClr val="17375E"/>
                </a:solidFill>
                <a:latin typeface="Calibri"/>
                <a:cs typeface="Calibri"/>
              </a:rPr>
              <a:t>Template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2" name="object 2"/>
          <p:cNvSpPr txBox="1"/>
          <p:nvPr/>
        </p:nvSpPr>
        <p:spPr>
          <a:xfrm>
            <a:off x="11398122" y="6423456"/>
            <a:ext cx="107314" cy="2089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200" spc="-50">
                <a:solidFill>
                  <a:srgbClr val="888888"/>
                </a:solidFill>
                <a:latin typeface="Calibri"/>
                <a:cs typeface="Calibri"/>
              </a:rPr>
              <a:t>2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Arial"/>
              </a:defRPr>
            </a:pPr>
            <a:r>
              <a:t>CrowdShield: Decentralized Edge AI &amp; LoRa Mesh Network</a:t>
            </a:r>
          </a:p>
          <a:p>
            <a:pPr>
              <a:spcBef>
                <a:spcPts val="400"/>
              </a:spcBef>
              <a:defRPr sz="1300">
                <a:solidFill>
                  <a:srgbClr val="0284C7"/>
                </a:solidFill>
                <a:latin typeface="Arial"/>
              </a:defRPr>
            </a:pPr>
            <a:r>
              <a:t>Real-Time Crowd Surge Mitigation, Fall Detection &amp; Synchronized Emergency Egress Guidance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3383280" cy="283464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000" b="1">
                <a:solidFill>
                  <a:srgbClr val="1E3A8A"/>
                </a:solidFill>
                <a:latin typeface="Arial"/>
              </a:defRPr>
            </a:pPr>
            <a:r>
              <a:t>OFFICIAL HACKATHON THEME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Theme 11: Disaster Mitigation &amp; Resilience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Sub-Track 11b: Real-Time Crowd Risk Prediction and Emergency Response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Core Focus: Autonomous crowd safety during mega-gatherings (Kumbh Mela, temple festivals, railway stations) when cellular networks collapse.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560320"/>
            <a:ext cx="3383280" cy="28346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000" b="1">
                <a:solidFill>
                  <a:srgbClr val="1E3A8A"/>
                </a:solidFill>
                <a:latin typeface="Arial"/>
              </a:defRPr>
            </a:pPr>
            <a:r>
              <a:t>TEAM IDENTITY &amp; COMPOSITION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Team Name: CrowdShield</a:t>
            </a:r>
          </a:p>
          <a:p>
            <a:pPr>
              <a:spcBef>
                <a:spcPts val="400"/>
              </a:spcBef>
              <a:defRPr sz="1000">
                <a:solidFill>
                  <a:srgbClr val="334155"/>
                </a:solidFill>
                <a:latin typeface="Arial"/>
              </a:defRPr>
            </a:pPr>
            <a:r>
              <a:t>• Team ID: Registered on HSC Portal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• Team Lead: Raghunandhan P.</a:t>
            </a:r>
            <a:br/>
            <a:r>
              <a:t>  (Edge Hardware, LoRa Mesh &amp; Computer Vision Lead)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• Co-Lead: Manoj</a:t>
            </a:r>
            <a:br/>
            <a:r>
              <a:t>  (Command Center UI, GIS Engine &amp; Backend API Lead)</a:t>
            </a:r>
          </a:p>
          <a:p>
            <a:pPr>
              <a:spcBef>
                <a:spcPts val="4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• State / UT: Tamil Nadu, India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560320"/>
            <a:ext cx="3383280" cy="283464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000" b="1">
                <a:solidFill>
                  <a:srgbClr val="059669"/>
                </a:solidFill>
                <a:latin typeface="Arial"/>
              </a:defRPr>
            </a:pPr>
            <a:r>
              <a:t>SYSTEM HIGHLIGHTS &amp; ARCHITECTURE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• 100% Offline Autonomy: Zero internet, cellular data, or cloud API dependency.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• 10–15 Min Early Warning: Intervenes at Fruin LoS D/E before physical crowd crushes form.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• 433MHz LoRa Mesh: Sub-GHz direct radio broadcast to on-ground digital signboards &amp; voice speakers.</a:t>
            </a:r>
          </a:p>
          <a:p>
            <a:pPr>
              <a:spcBef>
                <a:spcPts val="400"/>
              </a:spcBef>
              <a:defRPr sz="950">
                <a:solidFill>
                  <a:srgbClr val="334155"/>
                </a:solidFill>
                <a:latin typeface="Arial"/>
              </a:defRPr>
            </a:pPr>
            <a:r>
              <a:t>• NetworkX Dynamic GIS: Automatically recalculates shortest safe exit detour paths avoiding hazards.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77840"/>
            <a:ext cx="10698480" cy="502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E3A8A"/>
                </a:solidFill>
                <a:latin typeface="Arial"/>
              </a:defRPr>
            </a:pPr>
            <a:r>
              <a:t>PROTOTYPE STATUS: 100% Implemented &amp; Validated on Physical Hardware Testbench (ESP32 + LoRa + FastAPI + React)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5"/>
          <p:cNvGrpSpPr/>
          <p:nvPr/>
        </p:nvGrpSpPr>
        <p:grpSpPr>
          <a:xfrm>
            <a:off x="144771" y="124951"/>
            <a:ext cx="1654175" cy="930275"/>
            <a:chOff x="144771" y="124951"/>
            <a:chExt cx="1654175" cy="93027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771" y="124951"/>
              <a:ext cx="1653556" cy="92968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3776" y="205727"/>
              <a:ext cx="966203" cy="83516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94" y="143510"/>
              <a:ext cx="1581924" cy="857631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82994" y="143510"/>
              <a:ext cx="1582420" cy="857885"/>
            </a:xfrm>
            <a:custGeom>
              <a:avLst/>
              <a:gdLst/>
              <a:ahLst/>
              <a:cxnLst/>
              <a:rect l="l" t="t" r="r" b="b"/>
              <a:pathLst>
                <a:path w="1582420" h="857885">
                  <a:moveTo>
                    <a:pt x="0" y="428879"/>
                  </a:moveTo>
                  <a:lnTo>
                    <a:pt x="9401" y="362553"/>
                  </a:lnTo>
                  <a:lnTo>
                    <a:pt x="36668" y="299430"/>
                  </a:lnTo>
                  <a:lnTo>
                    <a:pt x="80394" y="240272"/>
                  </a:lnTo>
                  <a:lnTo>
                    <a:pt x="107989" y="212419"/>
                  </a:lnTo>
                  <a:lnTo>
                    <a:pt x="139171" y="185843"/>
                  </a:lnTo>
                  <a:lnTo>
                    <a:pt x="173765" y="160640"/>
                  </a:lnTo>
                  <a:lnTo>
                    <a:pt x="211594" y="136905"/>
                  </a:lnTo>
                  <a:lnTo>
                    <a:pt x="252482" y="114734"/>
                  </a:lnTo>
                  <a:lnTo>
                    <a:pt x="296254" y="94222"/>
                  </a:lnTo>
                  <a:lnTo>
                    <a:pt x="342734" y="75464"/>
                  </a:lnTo>
                  <a:lnTo>
                    <a:pt x="391747" y="58556"/>
                  </a:lnTo>
                  <a:lnTo>
                    <a:pt x="443115" y="43593"/>
                  </a:lnTo>
                  <a:lnTo>
                    <a:pt x="496663" y="30670"/>
                  </a:lnTo>
                  <a:lnTo>
                    <a:pt x="552216" y="19883"/>
                  </a:lnTo>
                  <a:lnTo>
                    <a:pt x="609598" y="11327"/>
                  </a:lnTo>
                  <a:lnTo>
                    <a:pt x="668632" y="5097"/>
                  </a:lnTo>
                  <a:lnTo>
                    <a:pt x="729143" y="1290"/>
                  </a:lnTo>
                  <a:lnTo>
                    <a:pt x="790955" y="0"/>
                  </a:lnTo>
                  <a:lnTo>
                    <a:pt x="852776" y="1290"/>
                  </a:lnTo>
                  <a:lnTo>
                    <a:pt x="913294" y="5097"/>
                  </a:lnTo>
                  <a:lnTo>
                    <a:pt x="972334" y="11327"/>
                  </a:lnTo>
                  <a:lnTo>
                    <a:pt x="1029720" y="19883"/>
                  </a:lnTo>
                  <a:lnTo>
                    <a:pt x="1085276" y="30670"/>
                  </a:lnTo>
                  <a:lnTo>
                    <a:pt x="1138827" y="43593"/>
                  </a:lnTo>
                  <a:lnTo>
                    <a:pt x="1190196" y="58556"/>
                  </a:lnTo>
                  <a:lnTo>
                    <a:pt x="1239208" y="75464"/>
                  </a:lnTo>
                  <a:lnTo>
                    <a:pt x="1285688" y="94222"/>
                  </a:lnTo>
                  <a:lnTo>
                    <a:pt x="1329460" y="114734"/>
                  </a:lnTo>
                  <a:lnTo>
                    <a:pt x="1370347" y="136905"/>
                  </a:lnTo>
                  <a:lnTo>
                    <a:pt x="1408174" y="160640"/>
                  </a:lnTo>
                  <a:lnTo>
                    <a:pt x="1442765" y="185843"/>
                  </a:lnTo>
                  <a:lnTo>
                    <a:pt x="1473946" y="212419"/>
                  </a:lnTo>
                  <a:lnTo>
                    <a:pt x="1501538" y="240272"/>
                  </a:lnTo>
                  <a:lnTo>
                    <a:pt x="1545260" y="299430"/>
                  </a:lnTo>
                  <a:lnTo>
                    <a:pt x="1572524" y="362553"/>
                  </a:lnTo>
                  <a:lnTo>
                    <a:pt x="1581924" y="428879"/>
                  </a:lnTo>
                  <a:lnTo>
                    <a:pt x="1579545" y="462393"/>
                  </a:lnTo>
                  <a:lnTo>
                    <a:pt x="1561037" y="527207"/>
                  </a:lnTo>
                  <a:lnTo>
                    <a:pt x="1525369" y="588431"/>
                  </a:lnTo>
                  <a:lnTo>
                    <a:pt x="1473946" y="645305"/>
                  </a:lnTo>
                  <a:lnTo>
                    <a:pt x="1442765" y="671873"/>
                  </a:lnTo>
                  <a:lnTo>
                    <a:pt x="1408174" y="697067"/>
                  </a:lnTo>
                  <a:lnTo>
                    <a:pt x="1370347" y="720793"/>
                  </a:lnTo>
                  <a:lnTo>
                    <a:pt x="1329460" y="742955"/>
                  </a:lnTo>
                  <a:lnTo>
                    <a:pt x="1285688" y="763458"/>
                  </a:lnTo>
                  <a:lnTo>
                    <a:pt x="1239208" y="782207"/>
                  </a:lnTo>
                  <a:lnTo>
                    <a:pt x="1190196" y="799107"/>
                  </a:lnTo>
                  <a:lnTo>
                    <a:pt x="1138827" y="814062"/>
                  </a:lnTo>
                  <a:lnTo>
                    <a:pt x="1085276" y="826978"/>
                  </a:lnTo>
                  <a:lnTo>
                    <a:pt x="1029720" y="837759"/>
                  </a:lnTo>
                  <a:lnTo>
                    <a:pt x="972334" y="846310"/>
                  </a:lnTo>
                  <a:lnTo>
                    <a:pt x="913294" y="852536"/>
                  </a:lnTo>
                  <a:lnTo>
                    <a:pt x="852776" y="856341"/>
                  </a:lnTo>
                  <a:lnTo>
                    <a:pt x="790955" y="857631"/>
                  </a:lnTo>
                  <a:lnTo>
                    <a:pt x="729143" y="856341"/>
                  </a:lnTo>
                  <a:lnTo>
                    <a:pt x="668632" y="852536"/>
                  </a:lnTo>
                  <a:lnTo>
                    <a:pt x="609598" y="846310"/>
                  </a:lnTo>
                  <a:lnTo>
                    <a:pt x="552216" y="837759"/>
                  </a:lnTo>
                  <a:lnTo>
                    <a:pt x="496663" y="826978"/>
                  </a:lnTo>
                  <a:lnTo>
                    <a:pt x="443115" y="814062"/>
                  </a:lnTo>
                  <a:lnTo>
                    <a:pt x="391747" y="799107"/>
                  </a:lnTo>
                  <a:lnTo>
                    <a:pt x="342734" y="782207"/>
                  </a:lnTo>
                  <a:lnTo>
                    <a:pt x="296254" y="763458"/>
                  </a:lnTo>
                  <a:lnTo>
                    <a:pt x="252482" y="742955"/>
                  </a:lnTo>
                  <a:lnTo>
                    <a:pt x="211594" y="720793"/>
                  </a:lnTo>
                  <a:lnTo>
                    <a:pt x="173765" y="697067"/>
                  </a:lnTo>
                  <a:lnTo>
                    <a:pt x="139171" y="671873"/>
                  </a:lnTo>
                  <a:lnTo>
                    <a:pt x="107989" y="645305"/>
                  </a:lnTo>
                  <a:lnTo>
                    <a:pt x="80394" y="617460"/>
                  </a:lnTo>
                  <a:lnTo>
                    <a:pt x="36668" y="558315"/>
                  </a:lnTo>
                  <a:lnTo>
                    <a:pt x="9401" y="495201"/>
                  </a:lnTo>
                  <a:lnTo>
                    <a:pt x="0" y="428879"/>
                  </a:lnTo>
                  <a:close/>
                </a:path>
              </a:pathLst>
            </a:custGeom>
            <a:ln w="9525">
              <a:solidFill>
                <a:srgbClr val="F6924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61517" y="267080"/>
            <a:ext cx="624840" cy="5746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47625" algn="ctr">
              <a:lnSpc>
                <a:spcPct val="100000"/>
              </a:lnSpc>
              <a:spcBef>
                <a:spcPts val="100"/>
              </a:spcBef>
              <a:defRPr sz="1000" b="1">
                <a:solidFill>
                  <a:srgbClr val="FFFFFF"/>
                </a:solidFill>
                <a:latin typeface="Arial"/>
              </a:defRPr>
            </a:pPr>
            <a:r>
              <a:t>Crowd</a:t>
            </a:r>
            <a:endParaRPr sz="1800">
              <a:latin typeface="Calibri"/>
              <a:cs typeface="Calibri"/>
            </a:endParaRPr>
          </a:p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429006" rIns="0" bIns="0" rtlCol="0" vert="horz">
            <a:spAutoFit/>
          </a:bodyPr>
          <a:lstStyle/>
          <a:p>
            <a:pPr marL="664210">
              <a:lnSpc>
                <a:spcPct val="100000"/>
              </a:lnSpc>
              <a:spcBef>
                <a:spcPts val="105"/>
              </a:spcBef>
            </a:pPr>
            <a:r>
              <a:rPr dirty="0" sz="3200" spc="145"/>
              <a:t>Problem</a:t>
            </a:r>
            <a:r>
              <a:rPr dirty="0" sz="3200" spc="-80"/>
              <a:t> </a:t>
            </a:r>
            <a:r>
              <a:rPr dirty="0" sz="3200" spc="-130"/>
              <a:t>–</a:t>
            </a:r>
            <a:r>
              <a:rPr dirty="0" sz="3200" spc="-70"/>
              <a:t> </a:t>
            </a:r>
            <a:r>
              <a:rPr dirty="0" sz="3200" spc="160"/>
              <a:t>Proposed</a:t>
            </a:r>
            <a:r>
              <a:rPr dirty="0" sz="3200" spc="-85"/>
              <a:t> </a:t>
            </a:r>
            <a:r>
              <a:rPr dirty="0" sz="3200" spc="120"/>
              <a:t>Solution</a:t>
            </a:r>
            <a:endParaRPr sz="320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13233" y="32511"/>
            <a:ext cx="1824817" cy="935863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5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dirty="0" spc="120"/>
              <a:t>@HSC</a:t>
            </a:r>
            <a:r>
              <a:rPr dirty="0" spc="-45"/>
              <a:t> </a:t>
            </a:r>
            <a:r>
              <a:rPr dirty="0" spc="60"/>
              <a:t>submission-</a:t>
            </a:r>
            <a:r>
              <a:rPr dirty="0" spc="-40"/>
              <a:t> </a:t>
            </a:r>
            <a:r>
              <a:rPr dirty="0" spc="-10"/>
              <a:t>Template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1887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4748B"/>
                </a:solidFill>
                <a:latin typeface="Arial"/>
              </a:defRPr>
            </a:pPr>
            <a:r>
              <a:t>Core Problem Analysis &amp; Proposed Multi-Tier Crowd Safety Solution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600200"/>
            <a:ext cx="5166360" cy="3977639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100" b="1">
                <a:solidFill>
                  <a:srgbClr val="DC2626"/>
                </a:solidFill>
                <a:latin typeface="Arial"/>
              </a:defRPr>
            </a:pPr>
            <a:r>
              <a:t>THE CRITICAL PROBLEM: MASS GATHERING VULNERABILITY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1. Cellular &amp; Cloud Infrastructure Inevitably Collapses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When 50,000+ gather, mobile towers jam instantly. Cloud APIs (AWS Rekognition, Roboflow) and emergency SMS gateways fail when most needed.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2. Dangerous Human Surveillance Lag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Operators in control rooms watch 50+ screens manually. Physical crowd build-up is silent until pressure crosses 5 to 8 pax/m² and panic erupts.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3. Recurring Fatal Precedents (Official Statistics):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• Hathras, India (July 2024): 121 lives lost at constricted bottleneck.</a:t>
            </a:r>
            <a:br/>
            <a:r>
              <a:t>• Itaewon, Seoul (Oct 2022): 159 lives lost in 4m unmonitored sloped alley.</a:t>
            </a:r>
            <a:br/>
            <a:r>
              <a:t>• Prayagraj Maha Kumbh (Jan 2025): 30 lives lost during pontoon bridge surge.</a:t>
            </a:r>
            <a:br/>
            <a:r>
              <a:t>• New Delhi Railway Station (Feb 2025): 18 lives lost on stairs during festival rush.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00200"/>
            <a:ext cx="5166360" cy="3977639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100" b="1">
                <a:solidFill>
                  <a:srgbClr val="059669"/>
                </a:solidFill>
                <a:latin typeface="Arial"/>
              </a:defRPr>
            </a:pPr>
            <a:r>
              <a:t>PROPOSED SOLUTION: CROWDSHIELD AUTONOMOUS PLATFORM</a:t>
            </a:r>
          </a:p>
          <a:p>
            <a:pPr>
              <a:spcBef>
                <a:spcPts val="6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1. Localized Edge AI Vision (Zero Cloud Dependency)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Processes CCTV / IP webcam feeds at 15–30 FPS on an edge laptop. Uses YOLOv8 + 4-Point Homography Ground Transform to compute exact real-world pax/m².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2. Mathematical Conflict &amp; Fall Signature Detection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Farnebäck Optical Flow computes vector entropy. Directional Conflict Index &gt; 0.65 detects opposing crowd pushes and falls even when ground is hidden.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3. Dynamic NetworkX GIS Safe Path Recalculation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Locks compromised hazard sectors (impedance = ∞); dynamically routes pedestrians to nearest safe exits (Gate A, B, C) via weighted graph pathfinding.</a:t>
            </a:r>
          </a:p>
          <a:p>
            <a:pPr>
              <a:spcBef>
                <a:spcPts val="500"/>
              </a:spcBef>
              <a:defRPr sz="1050" b="1">
                <a:solidFill>
                  <a:srgbClr val="0F172A"/>
                </a:solidFill>
                <a:latin typeface="Arial"/>
              </a:defRPr>
            </a:pPr>
            <a:r>
              <a:t>4. Synchronized Multi-Node LoRa / ESP-NOW Mesh Broadcast</a:t>
            </a:r>
          </a:p>
          <a:p>
            <a:pPr>
              <a:defRPr sz="950">
                <a:solidFill>
                  <a:srgbClr val="334155"/>
                </a:solidFill>
                <a:latin typeface="Arial"/>
              </a:defRPr>
            </a:pPr>
            <a:r>
              <a:t>Simultaneously transmits pipe packets ('1|3|FIRE IN Z2 - REROUTE VIA GATE A') to on-ground digital signboards &amp; DFPlayer Mini voice speakers.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669280"/>
            <a:ext cx="10698480" cy="43891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E3A8A"/>
                </a:solidFill>
                <a:latin typeface="Arial"/>
              </a:defRPr>
            </a:pPr>
            <a:r>
              <a:t>INNOVATION &amp; UNIQUENESS: 100% Offline Autonomy • 10–15 Min Early Forecasting • Privacy-by-Design (Zero Biometric / Face Storage)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5"/>
          <p:cNvGrpSpPr/>
          <p:nvPr/>
        </p:nvGrpSpPr>
        <p:grpSpPr>
          <a:xfrm>
            <a:off x="144771" y="124951"/>
            <a:ext cx="1654175" cy="930275"/>
            <a:chOff x="144771" y="124951"/>
            <a:chExt cx="1654175" cy="93027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771" y="124951"/>
              <a:ext cx="1653556" cy="92968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3776" y="205727"/>
              <a:ext cx="966203" cy="83516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94" y="143510"/>
              <a:ext cx="1581924" cy="857631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82994" y="143510"/>
              <a:ext cx="1582420" cy="857885"/>
            </a:xfrm>
            <a:custGeom>
              <a:avLst/>
              <a:gdLst/>
              <a:ahLst/>
              <a:cxnLst/>
              <a:rect l="l" t="t" r="r" b="b"/>
              <a:pathLst>
                <a:path w="1582420" h="857885">
                  <a:moveTo>
                    <a:pt x="0" y="428879"/>
                  </a:moveTo>
                  <a:lnTo>
                    <a:pt x="9401" y="362553"/>
                  </a:lnTo>
                  <a:lnTo>
                    <a:pt x="36668" y="299430"/>
                  </a:lnTo>
                  <a:lnTo>
                    <a:pt x="80394" y="240272"/>
                  </a:lnTo>
                  <a:lnTo>
                    <a:pt x="107989" y="212419"/>
                  </a:lnTo>
                  <a:lnTo>
                    <a:pt x="139171" y="185843"/>
                  </a:lnTo>
                  <a:lnTo>
                    <a:pt x="173765" y="160640"/>
                  </a:lnTo>
                  <a:lnTo>
                    <a:pt x="211594" y="136905"/>
                  </a:lnTo>
                  <a:lnTo>
                    <a:pt x="252482" y="114734"/>
                  </a:lnTo>
                  <a:lnTo>
                    <a:pt x="296254" y="94222"/>
                  </a:lnTo>
                  <a:lnTo>
                    <a:pt x="342734" y="75464"/>
                  </a:lnTo>
                  <a:lnTo>
                    <a:pt x="391747" y="58556"/>
                  </a:lnTo>
                  <a:lnTo>
                    <a:pt x="443115" y="43593"/>
                  </a:lnTo>
                  <a:lnTo>
                    <a:pt x="496663" y="30670"/>
                  </a:lnTo>
                  <a:lnTo>
                    <a:pt x="552216" y="19883"/>
                  </a:lnTo>
                  <a:lnTo>
                    <a:pt x="609598" y="11327"/>
                  </a:lnTo>
                  <a:lnTo>
                    <a:pt x="668632" y="5097"/>
                  </a:lnTo>
                  <a:lnTo>
                    <a:pt x="729143" y="1290"/>
                  </a:lnTo>
                  <a:lnTo>
                    <a:pt x="790955" y="0"/>
                  </a:lnTo>
                  <a:lnTo>
                    <a:pt x="852776" y="1290"/>
                  </a:lnTo>
                  <a:lnTo>
                    <a:pt x="913294" y="5097"/>
                  </a:lnTo>
                  <a:lnTo>
                    <a:pt x="972334" y="11327"/>
                  </a:lnTo>
                  <a:lnTo>
                    <a:pt x="1029720" y="19883"/>
                  </a:lnTo>
                  <a:lnTo>
                    <a:pt x="1085276" y="30670"/>
                  </a:lnTo>
                  <a:lnTo>
                    <a:pt x="1138827" y="43593"/>
                  </a:lnTo>
                  <a:lnTo>
                    <a:pt x="1190196" y="58556"/>
                  </a:lnTo>
                  <a:lnTo>
                    <a:pt x="1239208" y="75464"/>
                  </a:lnTo>
                  <a:lnTo>
                    <a:pt x="1285688" y="94222"/>
                  </a:lnTo>
                  <a:lnTo>
                    <a:pt x="1329460" y="114734"/>
                  </a:lnTo>
                  <a:lnTo>
                    <a:pt x="1370347" y="136905"/>
                  </a:lnTo>
                  <a:lnTo>
                    <a:pt x="1408174" y="160640"/>
                  </a:lnTo>
                  <a:lnTo>
                    <a:pt x="1442765" y="185843"/>
                  </a:lnTo>
                  <a:lnTo>
                    <a:pt x="1473946" y="212419"/>
                  </a:lnTo>
                  <a:lnTo>
                    <a:pt x="1501538" y="240272"/>
                  </a:lnTo>
                  <a:lnTo>
                    <a:pt x="1545260" y="299430"/>
                  </a:lnTo>
                  <a:lnTo>
                    <a:pt x="1572524" y="362553"/>
                  </a:lnTo>
                  <a:lnTo>
                    <a:pt x="1581924" y="428879"/>
                  </a:lnTo>
                  <a:lnTo>
                    <a:pt x="1579545" y="462393"/>
                  </a:lnTo>
                  <a:lnTo>
                    <a:pt x="1561037" y="527207"/>
                  </a:lnTo>
                  <a:lnTo>
                    <a:pt x="1525369" y="588431"/>
                  </a:lnTo>
                  <a:lnTo>
                    <a:pt x="1473946" y="645305"/>
                  </a:lnTo>
                  <a:lnTo>
                    <a:pt x="1442765" y="671873"/>
                  </a:lnTo>
                  <a:lnTo>
                    <a:pt x="1408174" y="697067"/>
                  </a:lnTo>
                  <a:lnTo>
                    <a:pt x="1370347" y="720793"/>
                  </a:lnTo>
                  <a:lnTo>
                    <a:pt x="1329460" y="742955"/>
                  </a:lnTo>
                  <a:lnTo>
                    <a:pt x="1285688" y="763458"/>
                  </a:lnTo>
                  <a:lnTo>
                    <a:pt x="1239208" y="782207"/>
                  </a:lnTo>
                  <a:lnTo>
                    <a:pt x="1190196" y="799107"/>
                  </a:lnTo>
                  <a:lnTo>
                    <a:pt x="1138827" y="814062"/>
                  </a:lnTo>
                  <a:lnTo>
                    <a:pt x="1085276" y="826978"/>
                  </a:lnTo>
                  <a:lnTo>
                    <a:pt x="1029720" y="837759"/>
                  </a:lnTo>
                  <a:lnTo>
                    <a:pt x="972334" y="846310"/>
                  </a:lnTo>
                  <a:lnTo>
                    <a:pt x="913294" y="852536"/>
                  </a:lnTo>
                  <a:lnTo>
                    <a:pt x="852776" y="856341"/>
                  </a:lnTo>
                  <a:lnTo>
                    <a:pt x="790955" y="857631"/>
                  </a:lnTo>
                  <a:lnTo>
                    <a:pt x="729143" y="856341"/>
                  </a:lnTo>
                  <a:lnTo>
                    <a:pt x="668632" y="852536"/>
                  </a:lnTo>
                  <a:lnTo>
                    <a:pt x="609598" y="846310"/>
                  </a:lnTo>
                  <a:lnTo>
                    <a:pt x="552216" y="837759"/>
                  </a:lnTo>
                  <a:lnTo>
                    <a:pt x="496663" y="826978"/>
                  </a:lnTo>
                  <a:lnTo>
                    <a:pt x="443115" y="814062"/>
                  </a:lnTo>
                  <a:lnTo>
                    <a:pt x="391747" y="799107"/>
                  </a:lnTo>
                  <a:lnTo>
                    <a:pt x="342734" y="782207"/>
                  </a:lnTo>
                  <a:lnTo>
                    <a:pt x="296254" y="763458"/>
                  </a:lnTo>
                  <a:lnTo>
                    <a:pt x="252482" y="742955"/>
                  </a:lnTo>
                  <a:lnTo>
                    <a:pt x="211594" y="720793"/>
                  </a:lnTo>
                  <a:lnTo>
                    <a:pt x="173765" y="697067"/>
                  </a:lnTo>
                  <a:lnTo>
                    <a:pt x="139171" y="671873"/>
                  </a:lnTo>
                  <a:lnTo>
                    <a:pt x="107989" y="645305"/>
                  </a:lnTo>
                  <a:lnTo>
                    <a:pt x="80394" y="617460"/>
                  </a:lnTo>
                  <a:lnTo>
                    <a:pt x="36668" y="558315"/>
                  </a:lnTo>
                  <a:lnTo>
                    <a:pt x="9401" y="495201"/>
                  </a:lnTo>
                  <a:lnTo>
                    <a:pt x="0" y="428879"/>
                  </a:lnTo>
                  <a:close/>
                </a:path>
              </a:pathLst>
            </a:custGeom>
            <a:ln w="9525">
              <a:solidFill>
                <a:srgbClr val="F6924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61517" y="267080"/>
            <a:ext cx="624840" cy="5746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47625" algn="ctr">
              <a:lnSpc>
                <a:spcPct val="100000"/>
              </a:lnSpc>
              <a:spcBef>
                <a:spcPts val="100"/>
              </a:spcBef>
              <a:defRPr sz="1000" b="1">
                <a:solidFill>
                  <a:srgbClr val="FFFFFF"/>
                </a:solidFill>
                <a:latin typeface="Arial"/>
              </a:defRPr>
            </a:pPr>
            <a:r>
              <a:t>Crowd</a:t>
            </a:r>
            <a:endParaRPr sz="1800">
              <a:latin typeface="Calibri"/>
              <a:cs typeface="Calibri"/>
            </a:endParaRPr>
          </a:p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53492" rIns="0" bIns="0" rtlCol="0" vert="horz">
            <a:spAutoFit/>
          </a:bodyPr>
          <a:lstStyle/>
          <a:p>
            <a:pPr marL="1326515">
              <a:lnSpc>
                <a:spcPct val="100000"/>
              </a:lnSpc>
              <a:spcBef>
                <a:spcPts val="100"/>
              </a:spcBef>
            </a:pPr>
            <a:r>
              <a:rPr dirty="0" spc="165"/>
              <a:t>Technical</a:t>
            </a:r>
            <a:r>
              <a:rPr dirty="0" spc="-85"/>
              <a:t> </a:t>
            </a:r>
            <a:r>
              <a:rPr dirty="0" spc="150"/>
              <a:t>Approach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13233" y="32511"/>
            <a:ext cx="1824817" cy="935863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5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dirty="0" spc="120"/>
              <a:t>@HSC</a:t>
            </a:r>
            <a:r>
              <a:rPr dirty="0" spc="-45"/>
              <a:t> </a:t>
            </a:r>
            <a:r>
              <a:rPr dirty="0" spc="60"/>
              <a:t>submission-</a:t>
            </a:r>
            <a:r>
              <a:rPr dirty="0" spc="-40"/>
              <a:t> </a:t>
            </a:r>
            <a:r>
              <a:rPr dirty="0" spc="-10"/>
              <a:t>Template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280160"/>
            <a:ext cx="5120640" cy="3977639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28016" rIns="128016" bIns="128016"/>
          <a:lstStyle/>
          <a:p>
            <a:pPr algn="ctr">
              <a:defRPr sz="1050" b="1">
                <a:solidFill>
                  <a:srgbClr val="1E3A8A"/>
                </a:solidFill>
                <a:latin typeface="Arial"/>
              </a:defRPr>
            </a:pPr>
            <a:r>
              <a:t>TECHNICAL METHODOLOGY &amp; SYSTEM ARCHITECTURE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Tier 1: Real-Time Edge AI Vision &amp; Flow Analysis</a:t>
            </a:r>
          </a:p>
          <a:p>
            <a:pPr>
              <a:defRPr sz="819">
                <a:solidFill>
                  <a:srgbClr val="334155"/>
                </a:solidFill>
                <a:latin typeface="Arial"/>
              </a:defRPr>
            </a:pPr>
            <a:r>
              <a:t>  - RTSP CCTV / IP feeds processed at 15–30 FPS on local edge compute.</a:t>
            </a:r>
            <a:br/>
            <a:r>
              <a:t>  - 4-Point Ground Homography Transform matrix H maps camera pixels to metric pax/m².</a:t>
            </a:r>
            <a:br/>
            <a:r>
              <a:t>  - Farnebäck Optical Flow computes vector variance; Conflict Index &gt; 0.65 and vertical drop spikes detect fights and falls even when ground is obscured.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Tier 2: GIS Spatial Engine &amp; Dynamic Incident Rerouting</a:t>
            </a:r>
          </a:p>
          <a:p>
            <a:pPr>
              <a:defRPr sz="819">
                <a:solidFill>
                  <a:srgbClr val="334155"/>
                </a:solidFill>
                <a:latin typeface="Arial"/>
              </a:defRPr>
            </a:pPr>
            <a:r>
              <a:t>  - Asynchronous FastAPI backend microservice managing spatial zone telemetry.</a:t>
            </a:r>
            <a:br/>
            <a:r>
              <a:t>  - NetworkX Dijkstra Graph: Automatically isolates compromised hazard zones (cost = ∞) and computes alternative shortest safe egress corridors to open gates.</a:t>
            </a:r>
            <a:br/>
            <a:r>
              <a:t>  - React 18 Command Center with interactive SVG GIS canvas &amp; Web Audio alarms.</a:t>
            </a:r>
          </a:p>
          <a:p>
            <a:pPr>
              <a:spcBef>
                <a:spcPts val="4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Tier 3: 100% Offline Long-Range LoRa Mesh Hardware</a:t>
            </a:r>
          </a:p>
          <a:p>
            <a:pPr>
              <a:defRPr sz="819">
                <a:solidFill>
                  <a:srgbClr val="334155"/>
                </a:solidFill>
                <a:latin typeface="Arial"/>
              </a:defRPr>
            </a:pPr>
            <a:r>
              <a:t>  - Dual radio link: Semtech SX1278 (433MHz LoRa, SF9, BW 125kHz, 1MHz SPI clock) + ESP-NOW 2.4GHz peer-to-peer fallback.</a:t>
            </a:r>
            <a:br/>
            <a:r>
              <a:t>  - Master ESP32 Gateway dispatches pipe-delimited packets ('zNum|lvl|text') via USB serial.</a:t>
            </a:r>
            <a:br/>
            <a:r>
              <a:t>  - Zonal Field Nodes drive 1602 LCD exit signs and DFPlayer Mini regional voice alerts in 0ms hardware interrupt (DIO0); includes physical SOS panic switches.</a:t>
            </a:r>
          </a:p>
        </p:txBody>
      </p:sp>
      <p:pic>
        <p:nvPicPr>
          <p:cNvPr id="13" name="Picture 12" descr="architecture_diagra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1280160"/>
            <a:ext cx="5394960" cy="3977639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31520" y="5349240"/>
            <a:ext cx="10698480" cy="73152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09728" rIns="109728" bIns="109728"/>
          <a:lstStyle/>
          <a:p>
            <a:pPr algn="ctr">
              <a:defRPr sz="1000" b="1">
                <a:solidFill>
                  <a:srgbClr val="1E3A8A"/>
                </a:solidFill>
                <a:latin typeface="Arial"/>
              </a:defRPr>
            </a:pPr>
            <a:r>
              <a:t>WORKING REPOSITORY, VIDEO &amp; EXTENT OF AI USAGE:</a:t>
            </a:r>
          </a:p>
          <a:p>
            <a:pPr>
              <a:spcBef>
                <a:spcPts val="2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GitHub Repository: https://github.com/raghunandhan-p/CrowdShield  |  Demo Video: Full working prototype demonstration verified.</a:t>
            </a:r>
          </a:p>
          <a:p>
            <a:pPr>
              <a:spcBef>
                <a:spcPts val="1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• Extent of AI Tools: YOLOv8 on SCUT-HEAD/ShanghaiTech datasets, homography ground matrix transform, optical flow vector divergence, and 15-min risk forecasting.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5"/>
          <p:cNvGrpSpPr/>
          <p:nvPr/>
        </p:nvGrpSpPr>
        <p:grpSpPr>
          <a:xfrm>
            <a:off x="144771" y="124951"/>
            <a:ext cx="1654175" cy="930275"/>
            <a:chOff x="144771" y="124951"/>
            <a:chExt cx="1654175" cy="93027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771" y="124951"/>
              <a:ext cx="1653556" cy="92968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3776" y="205727"/>
              <a:ext cx="966203" cy="83516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94" y="143510"/>
              <a:ext cx="1581924" cy="857631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82994" y="143510"/>
              <a:ext cx="1582420" cy="857885"/>
            </a:xfrm>
            <a:custGeom>
              <a:avLst/>
              <a:gdLst/>
              <a:ahLst/>
              <a:cxnLst/>
              <a:rect l="l" t="t" r="r" b="b"/>
              <a:pathLst>
                <a:path w="1582420" h="857885">
                  <a:moveTo>
                    <a:pt x="0" y="428879"/>
                  </a:moveTo>
                  <a:lnTo>
                    <a:pt x="9401" y="362553"/>
                  </a:lnTo>
                  <a:lnTo>
                    <a:pt x="36668" y="299430"/>
                  </a:lnTo>
                  <a:lnTo>
                    <a:pt x="80394" y="240272"/>
                  </a:lnTo>
                  <a:lnTo>
                    <a:pt x="107989" y="212419"/>
                  </a:lnTo>
                  <a:lnTo>
                    <a:pt x="139171" y="185843"/>
                  </a:lnTo>
                  <a:lnTo>
                    <a:pt x="173765" y="160640"/>
                  </a:lnTo>
                  <a:lnTo>
                    <a:pt x="211594" y="136905"/>
                  </a:lnTo>
                  <a:lnTo>
                    <a:pt x="252482" y="114734"/>
                  </a:lnTo>
                  <a:lnTo>
                    <a:pt x="296254" y="94222"/>
                  </a:lnTo>
                  <a:lnTo>
                    <a:pt x="342734" y="75464"/>
                  </a:lnTo>
                  <a:lnTo>
                    <a:pt x="391747" y="58556"/>
                  </a:lnTo>
                  <a:lnTo>
                    <a:pt x="443115" y="43593"/>
                  </a:lnTo>
                  <a:lnTo>
                    <a:pt x="496663" y="30670"/>
                  </a:lnTo>
                  <a:lnTo>
                    <a:pt x="552216" y="19883"/>
                  </a:lnTo>
                  <a:lnTo>
                    <a:pt x="609598" y="11327"/>
                  </a:lnTo>
                  <a:lnTo>
                    <a:pt x="668632" y="5097"/>
                  </a:lnTo>
                  <a:lnTo>
                    <a:pt x="729143" y="1290"/>
                  </a:lnTo>
                  <a:lnTo>
                    <a:pt x="790955" y="0"/>
                  </a:lnTo>
                  <a:lnTo>
                    <a:pt x="852776" y="1290"/>
                  </a:lnTo>
                  <a:lnTo>
                    <a:pt x="913294" y="5097"/>
                  </a:lnTo>
                  <a:lnTo>
                    <a:pt x="972334" y="11327"/>
                  </a:lnTo>
                  <a:lnTo>
                    <a:pt x="1029720" y="19883"/>
                  </a:lnTo>
                  <a:lnTo>
                    <a:pt x="1085276" y="30670"/>
                  </a:lnTo>
                  <a:lnTo>
                    <a:pt x="1138827" y="43593"/>
                  </a:lnTo>
                  <a:lnTo>
                    <a:pt x="1190196" y="58556"/>
                  </a:lnTo>
                  <a:lnTo>
                    <a:pt x="1239208" y="75464"/>
                  </a:lnTo>
                  <a:lnTo>
                    <a:pt x="1285688" y="94222"/>
                  </a:lnTo>
                  <a:lnTo>
                    <a:pt x="1329460" y="114734"/>
                  </a:lnTo>
                  <a:lnTo>
                    <a:pt x="1370347" y="136905"/>
                  </a:lnTo>
                  <a:lnTo>
                    <a:pt x="1408174" y="160640"/>
                  </a:lnTo>
                  <a:lnTo>
                    <a:pt x="1442765" y="185843"/>
                  </a:lnTo>
                  <a:lnTo>
                    <a:pt x="1473946" y="212419"/>
                  </a:lnTo>
                  <a:lnTo>
                    <a:pt x="1501538" y="240272"/>
                  </a:lnTo>
                  <a:lnTo>
                    <a:pt x="1545260" y="299430"/>
                  </a:lnTo>
                  <a:lnTo>
                    <a:pt x="1572524" y="362553"/>
                  </a:lnTo>
                  <a:lnTo>
                    <a:pt x="1581924" y="428879"/>
                  </a:lnTo>
                  <a:lnTo>
                    <a:pt x="1579545" y="462393"/>
                  </a:lnTo>
                  <a:lnTo>
                    <a:pt x="1561037" y="527207"/>
                  </a:lnTo>
                  <a:lnTo>
                    <a:pt x="1525369" y="588431"/>
                  </a:lnTo>
                  <a:lnTo>
                    <a:pt x="1473946" y="645305"/>
                  </a:lnTo>
                  <a:lnTo>
                    <a:pt x="1442765" y="671873"/>
                  </a:lnTo>
                  <a:lnTo>
                    <a:pt x="1408174" y="697067"/>
                  </a:lnTo>
                  <a:lnTo>
                    <a:pt x="1370347" y="720793"/>
                  </a:lnTo>
                  <a:lnTo>
                    <a:pt x="1329460" y="742955"/>
                  </a:lnTo>
                  <a:lnTo>
                    <a:pt x="1285688" y="763458"/>
                  </a:lnTo>
                  <a:lnTo>
                    <a:pt x="1239208" y="782207"/>
                  </a:lnTo>
                  <a:lnTo>
                    <a:pt x="1190196" y="799107"/>
                  </a:lnTo>
                  <a:lnTo>
                    <a:pt x="1138827" y="814062"/>
                  </a:lnTo>
                  <a:lnTo>
                    <a:pt x="1085276" y="826978"/>
                  </a:lnTo>
                  <a:lnTo>
                    <a:pt x="1029720" y="837759"/>
                  </a:lnTo>
                  <a:lnTo>
                    <a:pt x="972334" y="846310"/>
                  </a:lnTo>
                  <a:lnTo>
                    <a:pt x="913294" y="852536"/>
                  </a:lnTo>
                  <a:lnTo>
                    <a:pt x="852776" y="856341"/>
                  </a:lnTo>
                  <a:lnTo>
                    <a:pt x="790955" y="857631"/>
                  </a:lnTo>
                  <a:lnTo>
                    <a:pt x="729143" y="856341"/>
                  </a:lnTo>
                  <a:lnTo>
                    <a:pt x="668632" y="852536"/>
                  </a:lnTo>
                  <a:lnTo>
                    <a:pt x="609598" y="846310"/>
                  </a:lnTo>
                  <a:lnTo>
                    <a:pt x="552216" y="837759"/>
                  </a:lnTo>
                  <a:lnTo>
                    <a:pt x="496663" y="826978"/>
                  </a:lnTo>
                  <a:lnTo>
                    <a:pt x="443115" y="814062"/>
                  </a:lnTo>
                  <a:lnTo>
                    <a:pt x="391747" y="799107"/>
                  </a:lnTo>
                  <a:lnTo>
                    <a:pt x="342734" y="782207"/>
                  </a:lnTo>
                  <a:lnTo>
                    <a:pt x="296254" y="763458"/>
                  </a:lnTo>
                  <a:lnTo>
                    <a:pt x="252482" y="742955"/>
                  </a:lnTo>
                  <a:lnTo>
                    <a:pt x="211594" y="720793"/>
                  </a:lnTo>
                  <a:lnTo>
                    <a:pt x="173765" y="697067"/>
                  </a:lnTo>
                  <a:lnTo>
                    <a:pt x="139171" y="671873"/>
                  </a:lnTo>
                  <a:lnTo>
                    <a:pt x="107989" y="645305"/>
                  </a:lnTo>
                  <a:lnTo>
                    <a:pt x="80394" y="617460"/>
                  </a:lnTo>
                  <a:lnTo>
                    <a:pt x="36668" y="558315"/>
                  </a:lnTo>
                  <a:lnTo>
                    <a:pt x="9401" y="495201"/>
                  </a:lnTo>
                  <a:lnTo>
                    <a:pt x="0" y="428879"/>
                  </a:lnTo>
                  <a:close/>
                </a:path>
              </a:pathLst>
            </a:custGeom>
            <a:ln w="9525">
              <a:solidFill>
                <a:srgbClr val="F6924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61517" y="267080"/>
            <a:ext cx="624840" cy="5746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47625" algn="ctr">
              <a:lnSpc>
                <a:spcPct val="100000"/>
              </a:lnSpc>
              <a:spcBef>
                <a:spcPts val="100"/>
              </a:spcBef>
              <a:defRPr sz="1000" b="1">
                <a:solidFill>
                  <a:srgbClr val="FFFFFF"/>
                </a:solidFill>
                <a:latin typeface="Arial"/>
              </a:defRPr>
            </a:pPr>
            <a:r>
              <a:t>Crowd</a:t>
            </a:r>
            <a:endParaRPr sz="1800">
              <a:latin typeface="Calibri"/>
              <a:cs typeface="Calibri"/>
            </a:endParaRPr>
          </a:p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206197" rIns="0" bIns="0" rtlCol="0" vert="horz">
            <a:spAutoFit/>
          </a:bodyPr>
          <a:lstStyle/>
          <a:p>
            <a:pPr marL="1700530">
              <a:lnSpc>
                <a:spcPct val="100000"/>
              </a:lnSpc>
              <a:spcBef>
                <a:spcPts val="100"/>
              </a:spcBef>
            </a:pPr>
            <a:r>
              <a:rPr dirty="0" spc="200"/>
              <a:t>Impact</a:t>
            </a:r>
            <a:r>
              <a:rPr dirty="0" spc="-70"/>
              <a:t> </a:t>
            </a:r>
            <a:r>
              <a:rPr dirty="0" spc="105"/>
              <a:t>Potential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13233" y="32511"/>
            <a:ext cx="1824817" cy="935863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5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dirty="0" spc="120"/>
              <a:t>@HSC</a:t>
            </a:r>
            <a:r>
              <a:rPr dirty="0" spc="-45"/>
              <a:t> </a:t>
            </a:r>
            <a:r>
              <a:rPr dirty="0" spc="60"/>
              <a:t>submission-</a:t>
            </a:r>
            <a:r>
              <a:rPr dirty="0" spc="-40"/>
              <a:t> </a:t>
            </a:r>
            <a:r>
              <a:rPr dirty="0" spc="-10"/>
              <a:t>Template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371600"/>
            <a:ext cx="3383280" cy="4480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100" b="1">
                <a:solidFill>
                  <a:srgbClr val="1E3A8A"/>
                </a:solidFill>
                <a:latin typeface="Arial"/>
              </a:defRPr>
            </a:pPr>
            <a:r>
              <a:t>1. IMPACT ON TARGET AUDIENCE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• Eliminates Fatal Mass Panic: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Panic in dense crowds spreads via screams and confusion. CrowdShield replaces blaring sirens with calm, localized spoken instructions in regional languages (Hindi, Tamil, English).</a:t>
            </a:r>
          </a:p>
          <a:p>
            <a:pPr>
              <a:spcBef>
                <a:spcPts val="5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• Active Visual Egress Signage: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On-ground digital display signboards positioned at eye level display high-visibility directional arrows ('REROUTE VIA GATE B') so evacuees instinctively move toward open space.</a:t>
            </a:r>
          </a:p>
          <a:p>
            <a:pPr>
              <a:spcBef>
                <a:spcPts val="5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• Lifeline for Trapped Victims: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Physical SOS panic switches on field poles give pedestrians an immediate lifeline to the control room even when mobile towers are jammed.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371600"/>
            <a:ext cx="3383280" cy="4480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100" b="1">
                <a:solidFill>
                  <a:srgbClr val="1E3A8A"/>
                </a:solidFill>
                <a:latin typeface="Arial"/>
              </a:defRPr>
            </a:pPr>
            <a:r>
              <a:t>2. SOCIAL &amp; ECONOMIC BENEFITS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• Zero-Casualty Event Objective: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By intervening 10–15 minutes early at Fruin LoS D/E (1.5–2.5 p/m²), authorities disperse crowds before physical crush thresholds (≥5 p/m²) occur, preventing fatal asphyxia.</a:t>
            </a:r>
          </a:p>
          <a:p>
            <a:pPr>
              <a:spcBef>
                <a:spcPts val="5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• 90% Cost Disruption vs Legacy Systems: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Enterprise crowd monitoring systems cost ₹15–50 Lakhs. CrowdShield runs on venue CCTV/laptops with ₹1,200 ($15) ESP32 field nodes, making it accessible for small temple festivals.</a:t>
            </a:r>
          </a:p>
          <a:p>
            <a:pPr>
              <a:spcBef>
                <a:spcPts val="5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• Zero Recurring Telecom Expenditure: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Cloud vision APIs cost $1.50 per 1,000 frames (₹1.2 Lakhs/day across 10 cameras). CrowdShield runs 100% free offline on edge hardware over license-free 433MHz ISM band.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371600"/>
            <a:ext cx="3383280" cy="4480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100" b="1">
                <a:solidFill>
                  <a:srgbClr val="1E3A8A"/>
                </a:solidFill>
                <a:latin typeface="Arial"/>
              </a:defRPr>
            </a:pPr>
            <a:r>
              <a:t>3. STAKEHOLDERS &amp; SCALABILITY</a:t>
            </a:r>
          </a:p>
          <a:p>
            <a:pPr>
              <a:spcBef>
                <a:spcPts val="6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• Disaster Management &amp; Police: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National Disaster Management Authority (NDMA), SDRF, Police Command Centers, Rapid Action Force (RAF).</a:t>
            </a:r>
          </a:p>
          <a:p>
            <a:pPr>
              <a:spcBef>
                <a:spcPts val="5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• Mass Religious Congregations: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Maha Kumbh Mela Authority (Prayagraj/Haridwar), Tirumala Tirupati Devasthanams (TTD), Sabarimala Shrine Board, Puri Rath Yatra.</a:t>
            </a:r>
          </a:p>
          <a:p>
            <a:pPr>
              <a:spcBef>
                <a:spcPts val="500"/>
              </a:spcBef>
              <a:defRPr sz="1000" b="1">
                <a:solidFill>
                  <a:srgbClr val="0F172A"/>
                </a:solidFill>
                <a:latin typeface="Arial"/>
              </a:defRPr>
            </a:pPr>
            <a:r>
              <a:t>• Public Transit &amp; Arena Operators:</a:t>
            </a:r>
          </a:p>
          <a:p>
            <a:pPr>
              <a:defRPr sz="900">
                <a:solidFill>
                  <a:srgbClr val="334155"/>
                </a:solidFill>
                <a:latin typeface="Arial"/>
              </a:defRPr>
            </a:pPr>
            <a:r>
              <a:t>Indian Railways (major junction footbridges), Metro Rail Corporation, Cricket &amp; Sports Stadium Authorities (BCCI).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5"/>
          <p:cNvGrpSpPr/>
          <p:nvPr/>
        </p:nvGrpSpPr>
        <p:grpSpPr>
          <a:xfrm>
            <a:off x="144771" y="124951"/>
            <a:ext cx="1654175" cy="930275"/>
            <a:chOff x="144771" y="124951"/>
            <a:chExt cx="1654175" cy="93027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771" y="124951"/>
              <a:ext cx="1653556" cy="92968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3776" y="205727"/>
              <a:ext cx="966203" cy="83516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94" y="143510"/>
              <a:ext cx="1581924" cy="857631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82994" y="143510"/>
              <a:ext cx="1582420" cy="857885"/>
            </a:xfrm>
            <a:custGeom>
              <a:avLst/>
              <a:gdLst/>
              <a:ahLst/>
              <a:cxnLst/>
              <a:rect l="l" t="t" r="r" b="b"/>
              <a:pathLst>
                <a:path w="1582420" h="857885">
                  <a:moveTo>
                    <a:pt x="0" y="428879"/>
                  </a:moveTo>
                  <a:lnTo>
                    <a:pt x="9401" y="362553"/>
                  </a:lnTo>
                  <a:lnTo>
                    <a:pt x="36668" y="299430"/>
                  </a:lnTo>
                  <a:lnTo>
                    <a:pt x="80394" y="240272"/>
                  </a:lnTo>
                  <a:lnTo>
                    <a:pt x="107989" y="212419"/>
                  </a:lnTo>
                  <a:lnTo>
                    <a:pt x="139171" y="185843"/>
                  </a:lnTo>
                  <a:lnTo>
                    <a:pt x="173765" y="160640"/>
                  </a:lnTo>
                  <a:lnTo>
                    <a:pt x="211594" y="136905"/>
                  </a:lnTo>
                  <a:lnTo>
                    <a:pt x="252482" y="114734"/>
                  </a:lnTo>
                  <a:lnTo>
                    <a:pt x="296254" y="94222"/>
                  </a:lnTo>
                  <a:lnTo>
                    <a:pt x="342734" y="75464"/>
                  </a:lnTo>
                  <a:lnTo>
                    <a:pt x="391747" y="58556"/>
                  </a:lnTo>
                  <a:lnTo>
                    <a:pt x="443115" y="43593"/>
                  </a:lnTo>
                  <a:lnTo>
                    <a:pt x="496663" y="30670"/>
                  </a:lnTo>
                  <a:lnTo>
                    <a:pt x="552216" y="19883"/>
                  </a:lnTo>
                  <a:lnTo>
                    <a:pt x="609598" y="11327"/>
                  </a:lnTo>
                  <a:lnTo>
                    <a:pt x="668632" y="5097"/>
                  </a:lnTo>
                  <a:lnTo>
                    <a:pt x="729143" y="1290"/>
                  </a:lnTo>
                  <a:lnTo>
                    <a:pt x="790955" y="0"/>
                  </a:lnTo>
                  <a:lnTo>
                    <a:pt x="852776" y="1290"/>
                  </a:lnTo>
                  <a:lnTo>
                    <a:pt x="913294" y="5097"/>
                  </a:lnTo>
                  <a:lnTo>
                    <a:pt x="972334" y="11327"/>
                  </a:lnTo>
                  <a:lnTo>
                    <a:pt x="1029720" y="19883"/>
                  </a:lnTo>
                  <a:lnTo>
                    <a:pt x="1085276" y="30670"/>
                  </a:lnTo>
                  <a:lnTo>
                    <a:pt x="1138827" y="43593"/>
                  </a:lnTo>
                  <a:lnTo>
                    <a:pt x="1190196" y="58556"/>
                  </a:lnTo>
                  <a:lnTo>
                    <a:pt x="1239208" y="75464"/>
                  </a:lnTo>
                  <a:lnTo>
                    <a:pt x="1285688" y="94222"/>
                  </a:lnTo>
                  <a:lnTo>
                    <a:pt x="1329460" y="114734"/>
                  </a:lnTo>
                  <a:lnTo>
                    <a:pt x="1370347" y="136905"/>
                  </a:lnTo>
                  <a:lnTo>
                    <a:pt x="1408174" y="160640"/>
                  </a:lnTo>
                  <a:lnTo>
                    <a:pt x="1442765" y="185843"/>
                  </a:lnTo>
                  <a:lnTo>
                    <a:pt x="1473946" y="212419"/>
                  </a:lnTo>
                  <a:lnTo>
                    <a:pt x="1501538" y="240272"/>
                  </a:lnTo>
                  <a:lnTo>
                    <a:pt x="1545260" y="299430"/>
                  </a:lnTo>
                  <a:lnTo>
                    <a:pt x="1572524" y="362553"/>
                  </a:lnTo>
                  <a:lnTo>
                    <a:pt x="1581924" y="428879"/>
                  </a:lnTo>
                  <a:lnTo>
                    <a:pt x="1579545" y="462393"/>
                  </a:lnTo>
                  <a:lnTo>
                    <a:pt x="1561037" y="527207"/>
                  </a:lnTo>
                  <a:lnTo>
                    <a:pt x="1525369" y="588431"/>
                  </a:lnTo>
                  <a:lnTo>
                    <a:pt x="1473946" y="645305"/>
                  </a:lnTo>
                  <a:lnTo>
                    <a:pt x="1442765" y="671873"/>
                  </a:lnTo>
                  <a:lnTo>
                    <a:pt x="1408174" y="697067"/>
                  </a:lnTo>
                  <a:lnTo>
                    <a:pt x="1370347" y="720793"/>
                  </a:lnTo>
                  <a:lnTo>
                    <a:pt x="1329460" y="742955"/>
                  </a:lnTo>
                  <a:lnTo>
                    <a:pt x="1285688" y="763458"/>
                  </a:lnTo>
                  <a:lnTo>
                    <a:pt x="1239208" y="782207"/>
                  </a:lnTo>
                  <a:lnTo>
                    <a:pt x="1190196" y="799107"/>
                  </a:lnTo>
                  <a:lnTo>
                    <a:pt x="1138827" y="814062"/>
                  </a:lnTo>
                  <a:lnTo>
                    <a:pt x="1085276" y="826978"/>
                  </a:lnTo>
                  <a:lnTo>
                    <a:pt x="1029720" y="837759"/>
                  </a:lnTo>
                  <a:lnTo>
                    <a:pt x="972334" y="846310"/>
                  </a:lnTo>
                  <a:lnTo>
                    <a:pt x="913294" y="852536"/>
                  </a:lnTo>
                  <a:lnTo>
                    <a:pt x="852776" y="856341"/>
                  </a:lnTo>
                  <a:lnTo>
                    <a:pt x="790955" y="857631"/>
                  </a:lnTo>
                  <a:lnTo>
                    <a:pt x="729143" y="856341"/>
                  </a:lnTo>
                  <a:lnTo>
                    <a:pt x="668632" y="852536"/>
                  </a:lnTo>
                  <a:lnTo>
                    <a:pt x="609598" y="846310"/>
                  </a:lnTo>
                  <a:lnTo>
                    <a:pt x="552216" y="837759"/>
                  </a:lnTo>
                  <a:lnTo>
                    <a:pt x="496663" y="826978"/>
                  </a:lnTo>
                  <a:lnTo>
                    <a:pt x="443115" y="814062"/>
                  </a:lnTo>
                  <a:lnTo>
                    <a:pt x="391747" y="799107"/>
                  </a:lnTo>
                  <a:lnTo>
                    <a:pt x="342734" y="782207"/>
                  </a:lnTo>
                  <a:lnTo>
                    <a:pt x="296254" y="763458"/>
                  </a:lnTo>
                  <a:lnTo>
                    <a:pt x="252482" y="742955"/>
                  </a:lnTo>
                  <a:lnTo>
                    <a:pt x="211594" y="720793"/>
                  </a:lnTo>
                  <a:lnTo>
                    <a:pt x="173765" y="697067"/>
                  </a:lnTo>
                  <a:lnTo>
                    <a:pt x="139171" y="671873"/>
                  </a:lnTo>
                  <a:lnTo>
                    <a:pt x="107989" y="645305"/>
                  </a:lnTo>
                  <a:lnTo>
                    <a:pt x="80394" y="617460"/>
                  </a:lnTo>
                  <a:lnTo>
                    <a:pt x="36668" y="558315"/>
                  </a:lnTo>
                  <a:lnTo>
                    <a:pt x="9401" y="495201"/>
                  </a:lnTo>
                  <a:lnTo>
                    <a:pt x="0" y="428879"/>
                  </a:lnTo>
                  <a:close/>
                </a:path>
              </a:pathLst>
            </a:custGeom>
            <a:ln w="9525">
              <a:solidFill>
                <a:srgbClr val="F6924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61517" y="267080"/>
            <a:ext cx="624840" cy="5746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47625" algn="ctr">
              <a:lnSpc>
                <a:spcPct val="100000"/>
              </a:lnSpc>
              <a:spcBef>
                <a:spcPts val="100"/>
              </a:spcBef>
              <a:defRPr sz="1000" b="1">
                <a:solidFill>
                  <a:srgbClr val="FFFFFF"/>
                </a:solidFill>
                <a:latin typeface="Arial"/>
              </a:defRPr>
            </a:pPr>
            <a:r>
              <a:t>Crowd</a:t>
            </a:r>
            <a:endParaRPr sz="1800">
              <a:latin typeface="Calibri"/>
              <a:cs typeface="Calibri"/>
            </a:endParaRPr>
          </a:p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215341" rIns="0" bIns="0" rtlCol="0" vert="horz">
            <a:spAutoFit/>
          </a:bodyPr>
          <a:lstStyle/>
          <a:p>
            <a:pPr marL="678815">
              <a:lnSpc>
                <a:spcPct val="100000"/>
              </a:lnSpc>
              <a:spcBef>
                <a:spcPts val="100"/>
              </a:spcBef>
            </a:pPr>
            <a:r>
              <a:rPr dirty="0" spc="150"/>
              <a:t>Feasibility</a:t>
            </a:r>
            <a:r>
              <a:rPr dirty="0" spc="-70"/>
              <a:t> </a:t>
            </a:r>
            <a:r>
              <a:rPr dirty="0" spc="165"/>
              <a:t>and</a:t>
            </a:r>
            <a:r>
              <a:rPr dirty="0" spc="-55"/>
              <a:t> </a:t>
            </a:r>
            <a:r>
              <a:rPr dirty="0" spc="220"/>
              <a:t>Risk</a:t>
            </a:r>
            <a:r>
              <a:rPr dirty="0" spc="-65"/>
              <a:t> </a:t>
            </a:r>
            <a:r>
              <a:rPr dirty="0" spc="175"/>
              <a:t>Analysis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13233" y="32511"/>
            <a:ext cx="1824817" cy="935863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5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dirty="0" spc="120"/>
              <a:t>@HSC</a:t>
            </a:r>
            <a:r>
              <a:rPr dirty="0" spc="-45"/>
              <a:t> </a:t>
            </a:r>
            <a:r>
              <a:rPr dirty="0" spc="60"/>
              <a:t>submission-</a:t>
            </a:r>
            <a:r>
              <a:rPr dirty="0" spc="-40"/>
              <a:t> </a:t>
            </a:r>
            <a:r>
              <a:rPr dirty="0" spc="-10"/>
              <a:t>Template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371600"/>
            <a:ext cx="516636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28016" rIns="128016" bIns="128016"/>
          <a:lstStyle/>
          <a:p>
            <a:pPr algn="ctr">
              <a:defRPr sz="1000" b="1">
                <a:solidFill>
                  <a:srgbClr val="1E3A8A"/>
                </a:solidFill>
                <a:latin typeface="Arial"/>
              </a:defRPr>
            </a:pPr>
            <a:r>
              <a:t>CHALLENGE 1: EXTREME CROWD OCCLUSION (≥ 6 PAX/M²)</a:t>
            </a:r>
          </a:p>
          <a:p>
            <a:pPr>
              <a:spcBef>
                <a:spcPts val="3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• Risk: In massive crowds like Kumbh Mela, full bodies disappear and standard bounding-box YOLO object detection fails completely.</a:t>
            </a:r>
          </a:p>
          <a:p>
            <a:pPr>
              <a:spcBef>
                <a:spcPts val="300"/>
              </a:spcBef>
              <a:defRPr sz="850" b="1">
                <a:solidFill>
                  <a:srgbClr val="059669"/>
                </a:solidFill>
                <a:latin typeface="Arial"/>
              </a:defRPr>
            </a:pPr>
            <a:r>
              <a:t>• Engineering Strategy: 4-tier hybrid pipeline. Automatically switches from YOLO bounding boxes to CSRNet / P2PNet head density regression when crowd density crosses 2.5 p/m².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16636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28016" rIns="128016" bIns="128016"/>
          <a:lstStyle/>
          <a:p>
            <a:pPr algn="ctr">
              <a:defRPr sz="1000" b="1">
                <a:solidFill>
                  <a:srgbClr val="1E3A8A"/>
                </a:solidFill>
                <a:latin typeface="Arial"/>
              </a:defRPr>
            </a:pPr>
            <a:r>
              <a:t>CHALLENGE 2: RF NOISE &amp; LORA SPI BUS COLLISIONS</a:t>
            </a:r>
          </a:p>
          <a:p>
            <a:pPr>
              <a:spcBef>
                <a:spcPts val="3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• Risk: High radio interference in dense gatherings and jumper wire line noise can cause SPI bus lockups and packet drops on 433MHz LoRa.</a:t>
            </a:r>
          </a:p>
          <a:p>
            <a:pPr>
              <a:spcBef>
                <a:spcPts val="300"/>
              </a:spcBef>
              <a:defRPr sz="850" b="1">
                <a:solidFill>
                  <a:srgbClr val="059669"/>
                </a:solidFill>
                <a:latin typeface="Arial"/>
              </a:defRPr>
            </a:pPr>
            <a:r>
              <a:t>• Engineering Strategy: Clocked SPI at exactly 1 MHz to eliminate bus ringing. Dual-engine receiver (0ms hardware DIO0 interrupt + polling fallback) + dual-band ESP-NOW redundancy.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20440"/>
            <a:ext cx="516636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28016" rIns="128016" bIns="128016"/>
          <a:lstStyle/>
          <a:p>
            <a:pPr algn="ctr">
              <a:defRPr sz="1000" b="1">
                <a:solidFill>
                  <a:srgbClr val="1E3A8A"/>
                </a:solidFill>
                <a:latin typeface="Arial"/>
              </a:defRPr>
            </a:pPr>
            <a:r>
              <a:t>CHALLENGE 3: GRID POWER FAILURE &amp; CCTV BLIND SPOTS</a:t>
            </a:r>
          </a:p>
          <a:p>
            <a:pPr>
              <a:spcBef>
                <a:spcPts val="3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• Risk: Severe storms or grid power cuts can disable CCTV camera towers and control room power.</a:t>
            </a:r>
          </a:p>
          <a:p>
            <a:pPr>
              <a:spcBef>
                <a:spcPts val="300"/>
              </a:spcBef>
              <a:defRPr sz="850" b="1">
                <a:solidFill>
                  <a:srgbClr val="059669"/>
                </a:solidFill>
                <a:latin typeface="Arial"/>
              </a:defRPr>
            </a:pPr>
            <a:r>
              <a:t>• Engineering Strategy: Zonal field nodes operate on autonomous 4.1V LiPo batteries (up to 48h standby). If cameras go down, on-node PIR sensors &amp; physical SOS switches maintain crowd telemetry.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520440"/>
            <a:ext cx="516636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128016" rIns="128016" bIns="128016"/>
          <a:lstStyle/>
          <a:p>
            <a:pPr algn="ctr">
              <a:defRPr sz="1000" b="1">
                <a:solidFill>
                  <a:srgbClr val="1E3A8A"/>
                </a:solidFill>
                <a:latin typeface="Arial"/>
              </a:defRPr>
            </a:pPr>
            <a:r>
              <a:t>CHALLENGE 4: PUBLIC PRIVACY &amp; SURVEILLANCE CONCERNS</a:t>
            </a:r>
          </a:p>
          <a:p>
            <a:pPr>
              <a:spcBef>
                <a:spcPts val="300"/>
              </a:spcBef>
              <a:defRPr sz="850">
                <a:solidFill>
                  <a:srgbClr val="334155"/>
                </a:solidFill>
                <a:latin typeface="Arial"/>
              </a:defRPr>
            </a:pPr>
            <a:r>
              <a:t>• Risk: Public and legal pushback against facial recognition, identity tracking, and biometric data storage.</a:t>
            </a:r>
          </a:p>
          <a:p>
            <a:pPr>
              <a:spcBef>
                <a:spcPts val="300"/>
              </a:spcBef>
              <a:defRPr sz="850" b="1">
                <a:solidFill>
                  <a:srgbClr val="059669"/>
                </a:solidFill>
                <a:latin typeface="Arial"/>
              </a:defRPr>
            </a:pPr>
            <a:r>
              <a:t>• Engineering Strategy: Strict Privacy-by-Design. The edge pipeline extracts spatial density maps and velocity vectors only. Zero facial recognition, zero biometric databases, zero tracking.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623560"/>
            <a:ext cx="10698480" cy="5029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59669"/>
                </a:solidFill>
                <a:latin typeface="Arial"/>
              </a:defRPr>
            </a:pPr>
            <a:r>
              <a:t>FEASIBILITY VERDICT: Experimentally validated on functional testbench (ESP32 Gateway + Field Nodes + DFPlayer Mini + FastAPI + React). Ready for pilot staging.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5"/>
          <p:cNvGrpSpPr/>
          <p:nvPr/>
        </p:nvGrpSpPr>
        <p:grpSpPr>
          <a:xfrm>
            <a:off x="144771" y="124951"/>
            <a:ext cx="1654175" cy="930275"/>
            <a:chOff x="144771" y="124951"/>
            <a:chExt cx="1654175" cy="93027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771" y="124951"/>
              <a:ext cx="1653556" cy="92968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3776" y="205727"/>
              <a:ext cx="966203" cy="83516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94" y="143510"/>
              <a:ext cx="1581924" cy="857631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82994" y="143510"/>
              <a:ext cx="1582420" cy="857885"/>
            </a:xfrm>
            <a:custGeom>
              <a:avLst/>
              <a:gdLst/>
              <a:ahLst/>
              <a:cxnLst/>
              <a:rect l="l" t="t" r="r" b="b"/>
              <a:pathLst>
                <a:path w="1582420" h="857885">
                  <a:moveTo>
                    <a:pt x="0" y="428879"/>
                  </a:moveTo>
                  <a:lnTo>
                    <a:pt x="9401" y="362553"/>
                  </a:lnTo>
                  <a:lnTo>
                    <a:pt x="36668" y="299430"/>
                  </a:lnTo>
                  <a:lnTo>
                    <a:pt x="80394" y="240272"/>
                  </a:lnTo>
                  <a:lnTo>
                    <a:pt x="107989" y="212419"/>
                  </a:lnTo>
                  <a:lnTo>
                    <a:pt x="139171" y="185843"/>
                  </a:lnTo>
                  <a:lnTo>
                    <a:pt x="173765" y="160640"/>
                  </a:lnTo>
                  <a:lnTo>
                    <a:pt x="211594" y="136905"/>
                  </a:lnTo>
                  <a:lnTo>
                    <a:pt x="252482" y="114734"/>
                  </a:lnTo>
                  <a:lnTo>
                    <a:pt x="296254" y="94222"/>
                  </a:lnTo>
                  <a:lnTo>
                    <a:pt x="342734" y="75464"/>
                  </a:lnTo>
                  <a:lnTo>
                    <a:pt x="391747" y="58556"/>
                  </a:lnTo>
                  <a:lnTo>
                    <a:pt x="443115" y="43593"/>
                  </a:lnTo>
                  <a:lnTo>
                    <a:pt x="496663" y="30670"/>
                  </a:lnTo>
                  <a:lnTo>
                    <a:pt x="552216" y="19883"/>
                  </a:lnTo>
                  <a:lnTo>
                    <a:pt x="609598" y="11327"/>
                  </a:lnTo>
                  <a:lnTo>
                    <a:pt x="668632" y="5097"/>
                  </a:lnTo>
                  <a:lnTo>
                    <a:pt x="729143" y="1290"/>
                  </a:lnTo>
                  <a:lnTo>
                    <a:pt x="790955" y="0"/>
                  </a:lnTo>
                  <a:lnTo>
                    <a:pt x="852776" y="1290"/>
                  </a:lnTo>
                  <a:lnTo>
                    <a:pt x="913294" y="5097"/>
                  </a:lnTo>
                  <a:lnTo>
                    <a:pt x="972334" y="11327"/>
                  </a:lnTo>
                  <a:lnTo>
                    <a:pt x="1029720" y="19883"/>
                  </a:lnTo>
                  <a:lnTo>
                    <a:pt x="1085276" y="30670"/>
                  </a:lnTo>
                  <a:lnTo>
                    <a:pt x="1138827" y="43593"/>
                  </a:lnTo>
                  <a:lnTo>
                    <a:pt x="1190196" y="58556"/>
                  </a:lnTo>
                  <a:lnTo>
                    <a:pt x="1239208" y="75464"/>
                  </a:lnTo>
                  <a:lnTo>
                    <a:pt x="1285688" y="94222"/>
                  </a:lnTo>
                  <a:lnTo>
                    <a:pt x="1329460" y="114734"/>
                  </a:lnTo>
                  <a:lnTo>
                    <a:pt x="1370347" y="136905"/>
                  </a:lnTo>
                  <a:lnTo>
                    <a:pt x="1408174" y="160640"/>
                  </a:lnTo>
                  <a:lnTo>
                    <a:pt x="1442765" y="185843"/>
                  </a:lnTo>
                  <a:lnTo>
                    <a:pt x="1473946" y="212419"/>
                  </a:lnTo>
                  <a:lnTo>
                    <a:pt x="1501538" y="240272"/>
                  </a:lnTo>
                  <a:lnTo>
                    <a:pt x="1545260" y="299430"/>
                  </a:lnTo>
                  <a:lnTo>
                    <a:pt x="1572524" y="362553"/>
                  </a:lnTo>
                  <a:lnTo>
                    <a:pt x="1581924" y="428879"/>
                  </a:lnTo>
                  <a:lnTo>
                    <a:pt x="1579545" y="462393"/>
                  </a:lnTo>
                  <a:lnTo>
                    <a:pt x="1561037" y="527207"/>
                  </a:lnTo>
                  <a:lnTo>
                    <a:pt x="1525369" y="588431"/>
                  </a:lnTo>
                  <a:lnTo>
                    <a:pt x="1473946" y="645305"/>
                  </a:lnTo>
                  <a:lnTo>
                    <a:pt x="1442765" y="671873"/>
                  </a:lnTo>
                  <a:lnTo>
                    <a:pt x="1408174" y="697067"/>
                  </a:lnTo>
                  <a:lnTo>
                    <a:pt x="1370347" y="720793"/>
                  </a:lnTo>
                  <a:lnTo>
                    <a:pt x="1329460" y="742955"/>
                  </a:lnTo>
                  <a:lnTo>
                    <a:pt x="1285688" y="763458"/>
                  </a:lnTo>
                  <a:lnTo>
                    <a:pt x="1239208" y="782207"/>
                  </a:lnTo>
                  <a:lnTo>
                    <a:pt x="1190196" y="799107"/>
                  </a:lnTo>
                  <a:lnTo>
                    <a:pt x="1138827" y="814062"/>
                  </a:lnTo>
                  <a:lnTo>
                    <a:pt x="1085276" y="826978"/>
                  </a:lnTo>
                  <a:lnTo>
                    <a:pt x="1029720" y="837759"/>
                  </a:lnTo>
                  <a:lnTo>
                    <a:pt x="972334" y="846310"/>
                  </a:lnTo>
                  <a:lnTo>
                    <a:pt x="913294" y="852536"/>
                  </a:lnTo>
                  <a:lnTo>
                    <a:pt x="852776" y="856341"/>
                  </a:lnTo>
                  <a:lnTo>
                    <a:pt x="790955" y="857631"/>
                  </a:lnTo>
                  <a:lnTo>
                    <a:pt x="729143" y="856341"/>
                  </a:lnTo>
                  <a:lnTo>
                    <a:pt x="668632" y="852536"/>
                  </a:lnTo>
                  <a:lnTo>
                    <a:pt x="609598" y="846310"/>
                  </a:lnTo>
                  <a:lnTo>
                    <a:pt x="552216" y="837759"/>
                  </a:lnTo>
                  <a:lnTo>
                    <a:pt x="496663" y="826978"/>
                  </a:lnTo>
                  <a:lnTo>
                    <a:pt x="443115" y="814062"/>
                  </a:lnTo>
                  <a:lnTo>
                    <a:pt x="391747" y="799107"/>
                  </a:lnTo>
                  <a:lnTo>
                    <a:pt x="342734" y="782207"/>
                  </a:lnTo>
                  <a:lnTo>
                    <a:pt x="296254" y="763458"/>
                  </a:lnTo>
                  <a:lnTo>
                    <a:pt x="252482" y="742955"/>
                  </a:lnTo>
                  <a:lnTo>
                    <a:pt x="211594" y="720793"/>
                  </a:lnTo>
                  <a:lnTo>
                    <a:pt x="173765" y="697067"/>
                  </a:lnTo>
                  <a:lnTo>
                    <a:pt x="139171" y="671873"/>
                  </a:lnTo>
                  <a:lnTo>
                    <a:pt x="107989" y="645305"/>
                  </a:lnTo>
                  <a:lnTo>
                    <a:pt x="80394" y="617460"/>
                  </a:lnTo>
                  <a:lnTo>
                    <a:pt x="36668" y="558315"/>
                  </a:lnTo>
                  <a:lnTo>
                    <a:pt x="9401" y="495201"/>
                  </a:lnTo>
                  <a:lnTo>
                    <a:pt x="0" y="428879"/>
                  </a:lnTo>
                  <a:close/>
                </a:path>
              </a:pathLst>
            </a:custGeom>
            <a:ln w="9525">
              <a:solidFill>
                <a:srgbClr val="F6924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61517" y="267080"/>
            <a:ext cx="624840" cy="5746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47625" algn="ctr">
              <a:lnSpc>
                <a:spcPct val="100000"/>
              </a:lnSpc>
              <a:spcBef>
                <a:spcPts val="100"/>
              </a:spcBef>
              <a:defRPr sz="1000" b="1">
                <a:solidFill>
                  <a:srgbClr val="FFFFFF"/>
                </a:solidFill>
                <a:latin typeface="Arial"/>
              </a:defRPr>
            </a:pPr>
            <a:r>
              <a:t>Crowd</a:t>
            </a:r>
            <a:endParaRPr sz="1800">
              <a:latin typeface="Calibri"/>
              <a:cs typeface="Calibri"/>
            </a:endParaRPr>
          </a:p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9522" rIns="0" bIns="0" rtlCol="0" vert="horz">
            <a:spAutoFit/>
          </a:bodyPr>
          <a:lstStyle/>
          <a:p>
            <a:pPr marL="2755900">
              <a:lnSpc>
                <a:spcPct val="100000"/>
              </a:lnSpc>
              <a:spcBef>
                <a:spcPts val="100"/>
              </a:spcBef>
            </a:pPr>
            <a:r>
              <a:rPr dirty="0" spc="70"/>
              <a:t>Team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13233" y="32511"/>
            <a:ext cx="1824817" cy="935863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5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dirty="0" spc="120"/>
              <a:t>@HSC</a:t>
            </a:r>
            <a:r>
              <a:rPr dirty="0" spc="-45"/>
              <a:t> </a:t>
            </a:r>
            <a:r>
              <a:rPr dirty="0" spc="60"/>
              <a:t>submission-</a:t>
            </a:r>
            <a:r>
              <a:rPr dirty="0" spc="-40"/>
              <a:t> </a:t>
            </a:r>
            <a:r>
              <a:rPr dirty="0" spc="-10"/>
              <a:t>Template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371600"/>
            <a:ext cx="5166360" cy="3017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RAGHUNANDHAN P.</a:t>
            </a:r>
          </a:p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Edge Hardware, LoRa Mesh &amp; Computer Vision AI Lead</a:t>
            </a:r>
          </a:p>
          <a:p>
            <a:pPr>
              <a:spcBef>
                <a:spcPts val="5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Key Responsibilities &amp; Contributions: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Arial"/>
              </a:defRPr>
            </a:pPr>
            <a:r>
              <a:t>- Designed embedded C++ firmware for ESP32 gateway and field nodes (SX1278 LoRa 433MHz, ESP-NOW, 1602 LCD, DFPlayer Mini).</a:t>
            </a:r>
            <a:br/>
            <a:r>
              <a:t>- Implemented edge computer vision pipeline (YOLOv8, 4-Point Ground Homography perspective transform matrix, Farnebäck Optical Flow vector fields).</a:t>
            </a:r>
            <a:br/>
            <a:r>
              <a:t>- Tuned LoRa 1MHz SPI clock &amp; RF power registers to eliminate brownouts and jumper wire noise.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166360" cy="3017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MANOJ</a:t>
            </a:r>
          </a:p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Central Command Center UI, GIS Spatial Engine &amp; Backend API Lead</a:t>
            </a:r>
          </a:p>
          <a:p>
            <a:pPr>
              <a:spcBef>
                <a:spcPts val="5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Key Responsibilities &amp; Contributions: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Arial"/>
              </a:defRPr>
            </a:pPr>
            <a:r>
              <a:t>- Built full-stack Command Center in React 18, Tailwind CSS, SVG GIS coordinate projector, and Web Audio siren synthesizer.</a:t>
            </a:r>
            <a:br/>
            <a:r>
              <a:t>- Developed NetworkX dynamic egress graph pathfinding and Shapely point-in-polygon spatial calculation engine.</a:t>
            </a:r>
            <a:br/>
            <a:r>
              <a:t>- Architected asynchronous FastAPI microservice with WebSockets and pyserial USB downlink authorizer.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26280"/>
            <a:ext cx="10698480" cy="160020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146304" rIns="146304" bIns="146304"/>
          <a:lstStyle/>
          <a:p>
            <a:pPr algn="ctr">
              <a:defRPr sz="1050" b="1">
                <a:solidFill>
                  <a:srgbClr val="1E3A8A"/>
                </a:solidFill>
                <a:latin typeface="Arial"/>
              </a:defRPr>
            </a:pPr>
            <a:r>
              <a:t>OUR JOURNEY, CHALLENGES &amp; VISION:</a:t>
            </a:r>
          </a:p>
          <a:p>
            <a:pPr>
              <a:spcBef>
                <a:spcPts val="300"/>
              </a:spcBef>
              <a:defRPr sz="900">
                <a:solidFill>
                  <a:srgbClr val="0F172A"/>
                </a:solidFill>
                <a:latin typeface="Arial"/>
              </a:defRPr>
            </a:pPr>
            <a:r>
              <a:t>• Technical Challenges Overcome: Diagnosing intermittent SX1278 LoRa packet loss caused by breadboard line capacitance (solved by locking SPI clock to 1 MHz and implementing hardware interrupt callbacks on DIO0); formulating the Directional Conflict Index to reliably detect crowd fights and falls without internet.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Arial"/>
              </a:defRPr>
            </a:pPr>
            <a:r>
              <a:t>• Single-Operator UX Streamlining: Replaced a confusing 6-tab dashboard with a unified 3-hub crisis desk (Operations Dual-View, Incident Command, Hardware Config) so one person can manage an entire festival.</a:t>
            </a:r>
          </a:p>
          <a:p>
            <a:pPr>
              <a:spcBef>
                <a:spcPts val="200"/>
              </a:spcBef>
              <a:defRPr sz="900" b="1">
                <a:solidFill>
                  <a:srgbClr val="059669"/>
                </a:solidFill>
                <a:latin typeface="Arial"/>
              </a:defRPr>
            </a:pPr>
            <a:r>
              <a:t>• Team Vision: To turn tragedy into technical resilience. We built CrowdShield to ensure that no pilgrim, student, or festival-goer ever dies from an avoidable crowd crush in India.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5"/>
          <p:cNvGrpSpPr/>
          <p:nvPr/>
        </p:nvGrpSpPr>
        <p:grpSpPr>
          <a:xfrm>
            <a:off x="144771" y="124951"/>
            <a:ext cx="1654175" cy="930275"/>
            <a:chOff x="144771" y="124951"/>
            <a:chExt cx="1654175" cy="930275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771" y="124951"/>
              <a:ext cx="1653556" cy="92968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3776" y="205727"/>
              <a:ext cx="966203" cy="83516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2994" y="143510"/>
              <a:ext cx="1581924" cy="857631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82994" y="143510"/>
              <a:ext cx="1582420" cy="857885"/>
            </a:xfrm>
            <a:custGeom>
              <a:avLst/>
              <a:gdLst/>
              <a:ahLst/>
              <a:cxnLst/>
              <a:rect l="l" t="t" r="r" b="b"/>
              <a:pathLst>
                <a:path w="1582420" h="857885">
                  <a:moveTo>
                    <a:pt x="0" y="428879"/>
                  </a:moveTo>
                  <a:lnTo>
                    <a:pt x="9401" y="362553"/>
                  </a:lnTo>
                  <a:lnTo>
                    <a:pt x="36668" y="299430"/>
                  </a:lnTo>
                  <a:lnTo>
                    <a:pt x="80394" y="240272"/>
                  </a:lnTo>
                  <a:lnTo>
                    <a:pt x="107989" y="212419"/>
                  </a:lnTo>
                  <a:lnTo>
                    <a:pt x="139171" y="185843"/>
                  </a:lnTo>
                  <a:lnTo>
                    <a:pt x="173765" y="160640"/>
                  </a:lnTo>
                  <a:lnTo>
                    <a:pt x="211594" y="136905"/>
                  </a:lnTo>
                  <a:lnTo>
                    <a:pt x="252482" y="114734"/>
                  </a:lnTo>
                  <a:lnTo>
                    <a:pt x="296254" y="94222"/>
                  </a:lnTo>
                  <a:lnTo>
                    <a:pt x="342734" y="75464"/>
                  </a:lnTo>
                  <a:lnTo>
                    <a:pt x="391747" y="58556"/>
                  </a:lnTo>
                  <a:lnTo>
                    <a:pt x="443115" y="43593"/>
                  </a:lnTo>
                  <a:lnTo>
                    <a:pt x="496663" y="30670"/>
                  </a:lnTo>
                  <a:lnTo>
                    <a:pt x="552216" y="19883"/>
                  </a:lnTo>
                  <a:lnTo>
                    <a:pt x="609598" y="11327"/>
                  </a:lnTo>
                  <a:lnTo>
                    <a:pt x="668632" y="5097"/>
                  </a:lnTo>
                  <a:lnTo>
                    <a:pt x="729143" y="1290"/>
                  </a:lnTo>
                  <a:lnTo>
                    <a:pt x="790955" y="0"/>
                  </a:lnTo>
                  <a:lnTo>
                    <a:pt x="852776" y="1290"/>
                  </a:lnTo>
                  <a:lnTo>
                    <a:pt x="913294" y="5097"/>
                  </a:lnTo>
                  <a:lnTo>
                    <a:pt x="972334" y="11327"/>
                  </a:lnTo>
                  <a:lnTo>
                    <a:pt x="1029720" y="19883"/>
                  </a:lnTo>
                  <a:lnTo>
                    <a:pt x="1085276" y="30670"/>
                  </a:lnTo>
                  <a:lnTo>
                    <a:pt x="1138827" y="43593"/>
                  </a:lnTo>
                  <a:lnTo>
                    <a:pt x="1190196" y="58556"/>
                  </a:lnTo>
                  <a:lnTo>
                    <a:pt x="1239208" y="75464"/>
                  </a:lnTo>
                  <a:lnTo>
                    <a:pt x="1285688" y="94222"/>
                  </a:lnTo>
                  <a:lnTo>
                    <a:pt x="1329460" y="114734"/>
                  </a:lnTo>
                  <a:lnTo>
                    <a:pt x="1370347" y="136905"/>
                  </a:lnTo>
                  <a:lnTo>
                    <a:pt x="1408174" y="160640"/>
                  </a:lnTo>
                  <a:lnTo>
                    <a:pt x="1442765" y="185843"/>
                  </a:lnTo>
                  <a:lnTo>
                    <a:pt x="1473946" y="212419"/>
                  </a:lnTo>
                  <a:lnTo>
                    <a:pt x="1501538" y="240272"/>
                  </a:lnTo>
                  <a:lnTo>
                    <a:pt x="1545260" y="299430"/>
                  </a:lnTo>
                  <a:lnTo>
                    <a:pt x="1572524" y="362553"/>
                  </a:lnTo>
                  <a:lnTo>
                    <a:pt x="1581924" y="428879"/>
                  </a:lnTo>
                  <a:lnTo>
                    <a:pt x="1579545" y="462393"/>
                  </a:lnTo>
                  <a:lnTo>
                    <a:pt x="1561037" y="527207"/>
                  </a:lnTo>
                  <a:lnTo>
                    <a:pt x="1525369" y="588431"/>
                  </a:lnTo>
                  <a:lnTo>
                    <a:pt x="1473946" y="645305"/>
                  </a:lnTo>
                  <a:lnTo>
                    <a:pt x="1442765" y="671873"/>
                  </a:lnTo>
                  <a:lnTo>
                    <a:pt x="1408174" y="697067"/>
                  </a:lnTo>
                  <a:lnTo>
                    <a:pt x="1370347" y="720793"/>
                  </a:lnTo>
                  <a:lnTo>
                    <a:pt x="1329460" y="742955"/>
                  </a:lnTo>
                  <a:lnTo>
                    <a:pt x="1285688" y="763458"/>
                  </a:lnTo>
                  <a:lnTo>
                    <a:pt x="1239208" y="782207"/>
                  </a:lnTo>
                  <a:lnTo>
                    <a:pt x="1190196" y="799107"/>
                  </a:lnTo>
                  <a:lnTo>
                    <a:pt x="1138827" y="814062"/>
                  </a:lnTo>
                  <a:lnTo>
                    <a:pt x="1085276" y="826978"/>
                  </a:lnTo>
                  <a:lnTo>
                    <a:pt x="1029720" y="837759"/>
                  </a:lnTo>
                  <a:lnTo>
                    <a:pt x="972334" y="846310"/>
                  </a:lnTo>
                  <a:lnTo>
                    <a:pt x="913294" y="852536"/>
                  </a:lnTo>
                  <a:lnTo>
                    <a:pt x="852776" y="856341"/>
                  </a:lnTo>
                  <a:lnTo>
                    <a:pt x="790955" y="857631"/>
                  </a:lnTo>
                  <a:lnTo>
                    <a:pt x="729143" y="856341"/>
                  </a:lnTo>
                  <a:lnTo>
                    <a:pt x="668632" y="852536"/>
                  </a:lnTo>
                  <a:lnTo>
                    <a:pt x="609598" y="846310"/>
                  </a:lnTo>
                  <a:lnTo>
                    <a:pt x="552216" y="837759"/>
                  </a:lnTo>
                  <a:lnTo>
                    <a:pt x="496663" y="826978"/>
                  </a:lnTo>
                  <a:lnTo>
                    <a:pt x="443115" y="814062"/>
                  </a:lnTo>
                  <a:lnTo>
                    <a:pt x="391747" y="799107"/>
                  </a:lnTo>
                  <a:lnTo>
                    <a:pt x="342734" y="782207"/>
                  </a:lnTo>
                  <a:lnTo>
                    <a:pt x="296254" y="763458"/>
                  </a:lnTo>
                  <a:lnTo>
                    <a:pt x="252482" y="742955"/>
                  </a:lnTo>
                  <a:lnTo>
                    <a:pt x="211594" y="720793"/>
                  </a:lnTo>
                  <a:lnTo>
                    <a:pt x="173765" y="697067"/>
                  </a:lnTo>
                  <a:lnTo>
                    <a:pt x="139171" y="671873"/>
                  </a:lnTo>
                  <a:lnTo>
                    <a:pt x="107989" y="645305"/>
                  </a:lnTo>
                  <a:lnTo>
                    <a:pt x="80394" y="617460"/>
                  </a:lnTo>
                  <a:lnTo>
                    <a:pt x="36668" y="558315"/>
                  </a:lnTo>
                  <a:lnTo>
                    <a:pt x="9401" y="495201"/>
                  </a:lnTo>
                  <a:lnTo>
                    <a:pt x="0" y="428879"/>
                  </a:lnTo>
                  <a:close/>
                </a:path>
              </a:pathLst>
            </a:custGeom>
            <a:ln w="9525">
              <a:solidFill>
                <a:srgbClr val="F6924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/>
          <p:cNvSpPr txBox="1"/>
          <p:nvPr/>
        </p:nvSpPr>
        <p:spPr>
          <a:xfrm>
            <a:off x="661517" y="267080"/>
            <a:ext cx="624840" cy="5746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47625" algn="ctr">
              <a:lnSpc>
                <a:spcPct val="100000"/>
              </a:lnSpc>
              <a:spcBef>
                <a:spcPts val="100"/>
              </a:spcBef>
              <a:defRPr sz="1000" b="1">
                <a:solidFill>
                  <a:srgbClr val="FFFFFF"/>
                </a:solidFill>
                <a:latin typeface="Arial"/>
              </a:defRPr>
            </a:pPr>
            <a:r>
              <a:t>Crowd</a:t>
            </a:r>
            <a:endParaRPr sz="1800">
              <a:latin typeface="Calibri"/>
              <a:cs typeface="Calibri"/>
            </a:endParaRPr>
          </a:p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Shield</a:t>
            </a: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0378" rIns="0" bIns="0" rtlCol="0" vert="horz">
            <a:spAutoFit/>
          </a:bodyPr>
          <a:lstStyle/>
          <a:p>
            <a:pPr marL="2310130">
              <a:lnSpc>
                <a:spcPct val="100000"/>
              </a:lnSpc>
              <a:spcBef>
                <a:spcPts val="100"/>
              </a:spcBef>
            </a:pPr>
            <a:r>
              <a:rPr dirty="0" spc="190"/>
              <a:t>References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013233" y="32511"/>
            <a:ext cx="1824817" cy="935863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54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dirty="0" spc="120"/>
              <a:t>@HSC</a:t>
            </a:r>
            <a:r>
              <a:rPr dirty="0" spc="-45"/>
              <a:t> </a:t>
            </a:r>
            <a:r>
              <a:rPr dirty="0" spc="60"/>
              <a:t>submission-</a:t>
            </a:r>
            <a:r>
              <a:rPr dirty="0" spc="-40"/>
              <a:t> </a:t>
            </a:r>
            <a:r>
              <a:rPr dirty="0" spc="-10"/>
              <a:t>Template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371600"/>
            <a:ext cx="5166360" cy="4480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100" b="1">
                <a:solidFill>
                  <a:srgbClr val="1E3A8A"/>
                </a:solidFill>
                <a:latin typeface="Arial"/>
              </a:defRPr>
            </a:pPr>
            <a:r>
              <a:t>CROWD DYNAMICS &amp; DISASTER MITIGATION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Fruin, J. J. (1971):</a:t>
            </a:r>
          </a:p>
          <a:p>
            <a:pPr>
              <a:defRPr sz="900" b="1">
                <a:solidFill>
                  <a:srgbClr val="0284C7"/>
                </a:solidFill>
                <a:latin typeface="Arial"/>
              </a:defRPr>
            </a:pPr>
            <a:r>
              <a:t>  "Pedestrian Planning and Design"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  Metropolitan Association of Urban Designers and Environmental Planners, New York. Defined Level of Service (LoS A-F) benchmark standards for human crowd flow and bottleneck capacities.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Helbing, D., Farkas, I., &amp; Vicsek, T. (2000):</a:t>
            </a:r>
          </a:p>
          <a:p>
            <a:pPr>
              <a:defRPr sz="900" b="1">
                <a:solidFill>
                  <a:srgbClr val="0284C7"/>
                </a:solidFill>
                <a:latin typeface="Arial"/>
              </a:defRPr>
            </a:pPr>
            <a:r>
              <a:t>  "Simulating dynamical features of escape panic"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  Nature, 407(6803), 487-490. Mathematical modeling of physical crowd 'freezing-by-heating' and crushing shockwaves.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National Disaster Management Authority (NDMA), Govt. of India (2014):</a:t>
            </a:r>
          </a:p>
          <a:p>
            <a:pPr>
              <a:defRPr sz="900" b="1">
                <a:solidFill>
                  <a:srgbClr val="0284C7"/>
                </a:solidFill>
                <a:latin typeface="Arial"/>
              </a:defRPr>
            </a:pPr>
            <a:r>
              <a:t>  "Managing Crowd at Events and Venues of Mass Gathering: A Guide for Administrators and Organizers"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  New Delhi: NDMA. National standards for ingress/egress ratios and stampede prevention protocols.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Still, G. K. (2014):</a:t>
            </a:r>
          </a:p>
          <a:p>
            <a:pPr>
              <a:defRPr sz="900" b="1">
                <a:solidFill>
                  <a:srgbClr val="0284C7"/>
                </a:solidFill>
                <a:latin typeface="Arial"/>
              </a:defRPr>
            </a:pPr>
            <a:r>
              <a:t>  "Introduction to Crowd Science"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  CRC Press, Taylor &amp; Francis Group. Principles of crowd density risk modeling and bottleneck prevention.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166360" cy="44805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164592" rIns="164592" bIns="164592"/>
          <a:lstStyle/>
          <a:p>
            <a:pPr algn="ctr">
              <a:defRPr sz="1100" b="1">
                <a:solidFill>
                  <a:srgbClr val="1E3A8A"/>
                </a:solidFill>
                <a:latin typeface="Arial"/>
              </a:defRPr>
            </a:pPr>
            <a:r>
              <a:t>COMPUTER VISION &amp; EMBEDDED PROTOCOLS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Li, Y., Zhang, X., &amp; Chen, D. (2018):</a:t>
            </a:r>
          </a:p>
          <a:p>
            <a:pPr>
              <a:defRPr sz="900" b="1">
                <a:solidFill>
                  <a:srgbClr val="0284C7"/>
                </a:solidFill>
                <a:latin typeface="Arial"/>
              </a:defRPr>
            </a:pPr>
            <a:r>
              <a:t>  "CSRNet: Dilated Convolutional Neural Networks for Understanding Highly Congested Scenes"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  IEEE/CVF Conference on Computer Vision and Pattern Recognition (CVPR), pp. 1091-1100. ShanghaiTech crowd counting benchmark.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Farnebäck, G. (2003):</a:t>
            </a:r>
          </a:p>
          <a:p>
            <a:pPr>
              <a:defRPr sz="900" b="1">
                <a:solidFill>
                  <a:srgbClr val="0284C7"/>
                </a:solidFill>
                <a:latin typeface="Arial"/>
              </a:defRPr>
            </a:pPr>
            <a:r>
              <a:t>  "Two-Frame Motion Estimation Based on Polynomial Expansion"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  Scandinavian Conference on Image Analysis (SCIA), Springer LNCS 2749, pp. 363-370. Dense optical flow vector field calculation.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Semtech Corporation (2020):</a:t>
            </a:r>
          </a:p>
          <a:p>
            <a:pPr>
              <a:defRPr sz="900" b="1">
                <a:solidFill>
                  <a:srgbClr val="0284C7"/>
                </a:solidFill>
                <a:latin typeface="Arial"/>
              </a:defRPr>
            </a:pPr>
            <a:r>
              <a:t>  "SX1276/77/78/79 Ultra-Low Power Long Range Transceiver Datasheet"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  Semtech Wireless &amp; Sensing Products, Rev. 7. Specifications for 433MHz SF9 bandwidth and link budget.</a:t>
            </a:r>
          </a:p>
          <a:p>
            <a:pPr>
              <a:spcBef>
                <a:spcPts val="600"/>
              </a:spcBef>
              <a:defRPr sz="950" b="1">
                <a:solidFill>
                  <a:srgbClr val="0F172A"/>
                </a:solidFill>
                <a:latin typeface="Arial"/>
              </a:defRPr>
            </a:pPr>
            <a:r>
              <a:t>• Espressif Systems (2024):</a:t>
            </a:r>
          </a:p>
          <a:p>
            <a:pPr>
              <a:defRPr sz="900" b="1">
                <a:solidFill>
                  <a:srgbClr val="0284C7"/>
                </a:solidFill>
                <a:latin typeface="Arial"/>
              </a:defRPr>
            </a:pPr>
            <a:r>
              <a:t>  "ESP-NOW Technical Reference &amp; Peer-to-Peer Protocol Specification"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  Espressif Systems, Shanghai. Low-latency, connectionless peer-to-peer Wi-Fi packet frame communication standards.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Vamsi_IITB</dc:creator>
  <dc:title>Template_HSC_VBYLD_2027</dc:title>
  <dcterms:created xsi:type="dcterms:W3CDTF">2026-10-16T13:37:34Z</dcterms:created>
  <dcterms:modified xsi:type="dcterms:W3CDTF">2026-10-16T13:37:34Z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v12.0.20182.1</vt:lpwstr>
  </property>
  <property fmtid="{D5CDD505-2E9C-101B-9397-08002B2CF9AE}" pid="3" name="Created">
    <vt:filetime>2026-08-17T00:00:00Z</vt:filetime>
  </property>
  <property fmtid="{D5CDD505-2E9C-101B-9397-08002B2CF9AE}" pid="4" name="Creator">
    <vt:lpwstr>Microsoft® PowerPoint® 2021</vt:lpwstr>
  </property>
  <property fmtid="{D5CDD505-2E9C-101B-9397-08002B2CF9AE}" pid="5" name="LastSaved">
    <vt:filetime>2026-10-16T00:00:00Z</vt:filetime>
  </property>
  <property fmtid="{D5CDD505-2E9C-101B-9397-08002B2CF9AE}" pid="6" name="Producer">
    <vt:lpwstr>Microsoft® PowerPoint® 2021</vt:lpwstr>
  </property>
</Properties>
</file>